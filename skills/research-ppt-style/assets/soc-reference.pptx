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8882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各位老师、同学，今天汇报的是True Attacks, Attack Attempts, or Benign Triggers? An Empirical Measurement of Network Alerts in a Security Operations Center，中文是“真实攻击、攻击尝试，还是良性触发？——对一个安全运营中心网络告警的实证测量”。这篇论文发表于USENIX Security 2024，团队来自UIUC、NCSA和IBM Research。它是一篇测量研究：作者把2018至2022年的两段网络告警日志，与过去20年的成功攻击取证报告联系起来，回答真实SOC的告警体量、触发原因和攻击关联问题。今天以论文测量结果为主，最后谈方法论借鉴。</a:t>
            </a:r>
          </a:p>
          <a:p/>
          <a:p>
            <a:r>
              <a:t>【来源与审校记录，不口播】</a:t>
            </a:r>
          </a:p>
          <a:p>
            <a:r>
              <a:t>事实来源：PDF2/1525首页、摘要；PDF4–5/1527–1528 §3；Table3在PDF8/1531。4年是跨2018–2022的两段有数据时期；20年报告为2002/01—2022/03，227是已发现成功攻击，重叠11。汇报者的“方法论借鉴”归纳仅在后部个人栏目。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论文的共同第一作者是Limin Yang和Zhi Chen，作者团队来自UIUC、NCSA和IBM Research。Limin Yang的博士导师是Gang Wang，研究背景包括机器学习安全与互联网测量，之前以第一作者参与了USENIX Security 2021的概念漂移检测工作CADE。NCSA安全团队提供了真实运营数据和组织上下文，团队中有一位成员隶属该SOC。右侧书目页面显示本论文条目，另一幅是NCSA机构网页。</a:t>
            </a:r>
          </a:p>
          <a:p>
            <a:r>
              <a:t>由于数据敏感，研究通过了IRB审查。多数分析使用哈希IP，案例研究中的受限访问另有保护安排。作者公开了项目代码和Postgres案例当月的一份告警样本，含真实攻击、攻击尝试和良性触发标签；这不等于公开完整四年日志或所有私有取证材料。</a:t>
            </a:r>
          </a:p>
          <a:p/>
          <a:p>
            <a:r>
              <a:t>【来源与审校记录，不口播】</a:t>
            </a:r>
          </a:p>
          <a:p>
            <a:r>
              <a:t>作者、机构与共一：PDF2/1525题名页及*脚注；原文未标单独通讯作者。数据合作/IRB/IP保护：§3 PDF4–5/1527–1528；共享范围：§8.3 PDF15–16/1538–1539。CADE书目信息由USENIX官方2021页面和主论文参考[79]交叉支持；作者博士导师/研究兴趣由其公开旧CV支持，均描述学术背景，不当成当前职位。原P02图片1已目视：dblp同名消歧页面，页面明确不代表单一真实人物，含本论文条目；不可称个人完整学术主页，也不能将页面其他同名作品归给本文作者。该dblpURL两次实时打开超时，搜索索引及原截图可见，原抓取日期未记录。NCSA原P02图片2已目视，机构官网实时内容可访问，不能称本轮重拍。外部精确链接在source_footers JSON。删除“开源全部代码”的满额口气，采用“公开项目代码”，样本一月、无IP和载荷，不承诺完整复现。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汇报分四部分。第一是背景与概念，解释SOC、SIEM和告警分诊，并说明三个研究问题。第二是数据集与方法，介绍两段Zeek告警日志、227起成功攻击取证报告，以及真实攻击、攻击尝试和良性触发的定义与判定，无法归因的告警单列unknown。第三是核心量化发现：Postgres案例、告警体量、四分类组成、攻击尝试画像、告警与攻击关联，以及稀有主机模式的探索。第四是运营启示、研究局限和方法论借鉴，并区分测量结果、作者建议与个人归纳。</a:t>
            </a:r>
          </a:p>
          <a:p/>
          <a:p>
            <a:r>
              <a:t>【来源与审校记录，不口播】</a:t>
            </a:r>
          </a:p>
          <a:p>
            <a:r>
              <a:t>目录为汇报者组织，据§1三个研究问题与§3–8论文主线，不是原文逐字目录。四原因分类保留unknown；一般FP定义单独说明，不把FP错作Table4第四类别。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先看Figure1中的SOC工作流。左侧汇集网络监控、主机日志、蜜罐和威胁情报等输入，SIEM在本文由Splunk实现；分析师做威胁分诊、检测和响应，再进行攻击后的取证。响应与取证获得的新信息又反馈到检测和规则中。BHR是黑洞路由器，负责按规则自动阻断相关IP。绿色模块标出本文主要数据来源，本文并没有获得全部主机侧及商业工具告警。</a:t>
            </a:r>
          </a:p>
          <a:p>
            <a:r>
              <a:t>SOC是安全运营中心；SIEM是聚合安全信息并提供事件视图的平台；IDS是入侵检测系统；triage就是对告警筛查、判断并决定升级或响应。本文没有披露这个SOC完整的告警等级、阈值或处置SLA。</a:t>
            </a:r>
          </a:p>
          <a:p>
            <a:r>
              <a:t>已有用户研究讨论告警过载与分析师疲劳，但还缺乏定量认识。因此三个问题是：SOC威胁检测的关键瓶颈是什么，攻击者如何利用或响应这些瓶颈；告警到底过量到什么程度，常见触发原因是什么；告警能在多大程度上关联或指示成功攻击。</a:t>
            </a:r>
          </a:p>
          <a:p/>
          <a:p>
            <a:r>
              <a:t>【来源与审校记录，不口播】</a:t>
            </a:r>
          </a:p>
          <a:p>
            <a:r>
              <a:t>§1 RQ1/2/3在PDF2/1525；§2在PDF3–4/1526–1527；§3 Figure1在PDF4/1527。工作流包含反馈，绿色框为本文主要数据来源；SIEM具体Splunk见§3。SOC/IDS/SIEM/triage中文解释为教学转述。系统severity/分析师优先级/本文触发原因不同，原文未给本SOC分级阈值或SLA；不得补造。Target与疲劳是主论文引用前作的背景，未独立核验Target调查报告全文，不宣称本文测出过载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数据来自两个渠道。第一是NCSA SOC的Zeek网络告警：2018年4月至2020年8月和2020年12月至2022年7月两段，共1,329个有数据日、115,617,526条告警。每条有时间戳、涉及IP、类别和元数据。后期的BHR自动阻断记录为识别部分攻击尝试提供依据。本文未获得主机IDS、其他站点和商业工具的全部告警，因此网络日志只是这个SOC总告警量的下界。</a:t>
            </a:r>
          </a:p>
          <a:p>
            <a:r>
              <a:t>第二是2002年1月至2022年3月的227起已知成功攻击取证报告，其中11起落在告警日志重叠期。成功攻击指发生系统失陷、数据泄漏，或者对系统运行造成重大降级或中断。两名研究人员用一到两个月将非结构化报告编码成事件信息和相关MITRE ATT&amp;CK技术。</a:t>
            </a:r>
          </a:p>
          <a:p>
            <a:r>
              <a:t>研究场景是数千服务器、一万七千多活跃用户和9名SOC成员的科研设施。部分网络严格隔离，部分向内部和外部研究者开放，合法连接和恶意连接都可能来自不同地方。这种业务环境有研究价值，但不能直接代表所有企业SOC。取证报告也只记录已被发现并调查的成功攻击。</a:t>
            </a:r>
          </a:p>
          <a:p/>
          <a:p>
            <a:r>
              <a:t>【来源与审校记录，不口播】</a:t>
            </a:r>
          </a:p>
          <a:p>
            <a:r>
              <a:t>§3 PDF4–5/1527–1528；Table3 PDF8/1531；编码时间§5 PDF7/1530、AppendixA PDF18/1541。两时期751/578日，不是连续四年；网络告警是全部SOC来源的下界；227是已发现且取证成功攻击，11重叠。原制作纠错段及错误数字仅在这里保留核查记录：旧稿“566”无本论文依据，不上屏、不口播；口播只正常报227/11。9人是本SOC人数，2–10为论文转述常见规模区间，不能说9是所有SOC固定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先区分三个概念。True attack是真实成功攻击，攻击者成功使系统失陷或造成损害。Attack attempt是攻击尝试，发起了恶意行为，但未成功失陷系统或造成损害。Benign trigger是良性触发：规则命中了真实事件，但组织业务环境给出合理解释，SOC可安全忽略。例如弱SSL密钥的告警本身正确，但相关主机即将退役且已与公网隔离。</a:t>
            </a:r>
          </a:p>
          <a:p>
            <a:r>
              <a:t>良性触发与一般误报不同，一般误报是良性行为被错误判成攻击。判定依据也不同：成功攻击由取证报告支持；攻击尝试主要通过保守BHR阻断规则识别，并剔除其中的良性触发；良性触发由两名SOC分析师逐类别核查、结合上下文和白名单确认。后两种识别只纳入证据明确的部分，因此是已确认范围的下界。</a:t>
            </a:r>
          </a:p>
          <a:p>
            <a:r>
              <a:t>剩余23.72%原因不能可靠判定，单列unknown。它不表示已确认安全，可能混含尚未识别的攻击尝试、良性触发、误报，甚至未发现的成功攻击。因此不是把所有非成功攻击告警都自动当成误报。</a:t>
            </a:r>
          </a:p>
          <a:p/>
          <a:p>
            <a:r>
              <a:t>【来源与审校记录，不口播】</a:t>
            </a:r>
          </a:p>
          <a:p>
            <a:r>
              <a:t>Table1 PDF4/1527；§6.2 PDF9/1532；§6.4 PDF11–12/1534–1535及AppendixC/Table9 PDF19/1542。BHR阻断量44.9%含良性，剔除约17.50个百分点后对应27.37%；三个百分数为舍入，44.9−17.50未精确等于27.37不应写成精确等式。下界为保守业务识别，非统计置信界。Table4第四类别是unknown，FP作为定义区别而非四分类额外第五块。取证定义成功，不涵盖全部潜在漏发现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先看2021年11月的Postgres案例。攻击者在11月10日凌晨3点42分通过一个未设密码的账号连接内部服务器，3点44分下载三个文件，至少一个后来确认是恶意文件。根因是Postgres认证配置不当。</a:t>
            </a:r>
          </a:p>
          <a:p>
            <a:r>
              <a:t>当次主机初始失陷前及过程中，没有网络告警。第一条告警出现在3点44分，因为失陷主机在5秒内扫描了250个外部主机。从3点44分到7点11分，共有1,101条告警，其中主机D关联1,100条、攻击者IP关联1条；1,069条是HTTP basic access authentication。作者用每主机4小时窗口作参照，平均仅0.14条、标准差12.65，主机D明显偏离背景。</a:t>
            </a:r>
          </a:p>
          <a:p>
            <a:r>
              <a:t>7点11分分析师发现事件并封禁主机，8点10分确认恶意文件。为获取日志和主机快照还需要其他团队协助，快照到12月23日才恢复。回溯还发现，约一个月前同一来源在五个不同日期扫描至少175台主机，曾触发五条告警，说明早期线索存在，但本次初始失陷没有告警。这个案例展示了失陷后行为与初始失陷之间的监测差别，也展示了后续取证的时间成本。</a:t>
            </a:r>
          </a:p>
          <a:p/>
          <a:p>
            <a:r>
              <a:t>【来源与审校记录，不口播】</a:t>
            </a:r>
          </a:p>
          <a:p>
            <a:r>
              <a:t>§4 PDF5–6/1528–1529 Figure2，AppendixB PDF19/1542支撑1,069 HTTP条。失陷03:42、第一条03:44、响应07:11、文件确认08:10；快照12/23。1,101=主机D1,100+攻击者IP1；均值0.14/SD12.65是每主机4小时窗口，异常比较对象为D的1,100，不是把所有1,101都当单主机。约一月前五次扫描/五日期/至少175主机/五条告警，故不能讲历史完全无预警。根因段明确认证misconfiguration及未设密码；Figure2原caption虽用vulnerability，不足以确认为软件0-day。口播自然说认证配置不当，不把图注与正文差异的纠错过程上屏。个案不能证明所有攻击初始失陷都无告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第一点是告警体量。Figure8分别绘制两段日志，纵轴刻度不同，不能直接按曲线高度比较。前期2018年4月至2020年8月，751日、101,187,992条，日均</a:t>
            </a:r>
            <a:r>
              <a:rPr b="1"/>
              <a:t>134,738</a:t>
            </a:r>
            <a:r>
              <a:t>条；后期2020年12月至2022年7月，578日、14,429,534条，日均</a:t>
            </a:r>
            <a:r>
              <a:rPr b="1"/>
              <a:t>24,965</a:t>
            </a:r>
            <a:r>
              <a:t>条。两段合计1,329日、</a:t>
            </a:r>
            <a:r>
              <a:rPr b="1"/>
              <a:t>115,617,526</a:t>
            </a:r>
            <a:r>
              <a:t>条，日均86,996条。这两个时期均值不是每天告警量的上下限。</a:t>
            </a:r>
          </a:p>
          <a:p>
            <a:r>
              <a:t>后期BHR和防火墙规则自动处理6,474,204条，占该期</a:t>
            </a:r>
            <a:r>
              <a:rPr b="1"/>
              <a:t>44.9%</a:t>
            </a:r>
            <a:r>
              <a:t>，不用人工实时介入。BHR处理量既有高置信攻击尝试，也含已知良性触发。扣除后剩余约</a:t>
            </a:r>
            <a:r>
              <a:rPr b="1"/>
              <a:t>13,764</a:t>
            </a:r>
            <a:r>
              <a:t>条每天，这是非BHR自动处理的记录余量，作者据此讨论分析师压力；它不是实际逐条人工审阅量，更不是劳动工时。</a:t>
            </a:r>
          </a:p>
          <a:p>
            <a:r>
              <a:t>2018年初峰值与Mirai新变种的大量地址扫描有关；2022年初与Log4j扫描及内部日志系统告警有关，合法外部渗透测试也是相关背景。两时期规则和自动化都在变化，因此观察到的下降不能单独归因于BHR，也不能解释为攻击量一定减少。作者强调，告警数量大且方差高，使排班和工作分配困难。</a:t>
            </a:r>
          </a:p>
          <a:p/>
          <a:p>
            <a:r>
              <a:t>【来源与审校记录，不口播】</a:t>
            </a:r>
          </a:p>
          <a:p>
            <a:r>
              <a:t>Table3/§6.1/Remark3 PDF8/1531；Figure8 PDF9/1532；§6.4 PDF12/1535。两时期纵轴不同；日均134,738/24,965非上下限。6,474,204/14,429,534≈44.9%；非BHR余量7,955,330/578≈13,764条/日，由原数量推算且与作者报告一致，不是人工审阅实测或人时。自动化和规则变化共存，观察下降不证明BHR单独因果效果。Log4j具体披露月份不进入本轮口播；原论文脚注历史月份未独立核验，避免扩大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第二点看后期14,429,534条告警为什么触发，时间窗是2020年12月至2022年7月。与已知成功攻击相关的有1,114条，占0.01%；已确认攻击尝试3,948,645条，占27.37%；已确认良性触发7,057,012条，占48.91%；原因未知3,422,763条，占23.72%。0.01%是告警条数占比，经四舍五入，不是攻击事件比例、攻击成功率或检测召回率。unknown不能看作安全，其中可能混含其他类别甚至未发现的成功攻击。</a:t>
            </a:r>
          </a:p>
          <a:p>
            <a:r>
              <a:t>良性触发指规则匹配正确，但业务背景提供了可以接受的解释。其识别采取保守规则和人工上下文核查，因此48.91%是已确认的范围。本页横条图选列四类主要良性来源，按告警数量从高到低排列：外部渗透测试和合规审计2,694,851条，多于Zeek日志故障2,553,794条；外部域名对应本地IP1,407,151条；内部合法扫描194,518条。完整表还列出其他DNS、SSL和新增IP空间等原因。精简展示仅选列主要来源，并非全集。</a:t>
            </a:r>
          </a:p>
          <a:p>
            <a:r>
              <a:t>Table7各子项可重叠，例如内部扫描也可能包含DNS或SSL告警；7,057,012是并集，不能将子项求和作总量，也不能把横向条形理解为互斥份额。外部渗透测试中92%与2022年初Log4j有关。作者另调查了384个触发扫描告警的内部IP，最初列为unknown；部分是爬虫或未充分记录的扫描器，但不能据此把全部384个确认为合法来源。</a:t>
            </a:r>
          </a:p>
          <a:p>
            <a:r>
              <a:t>对机器学习研究，作者提醒攻击尝试和良性触发具有类似恶意活动的模式，直接放入简单的良性/恶意二元标签可能产生噪声。这是对问题设定的分析，不是本文训练新模型验证的性能结论。</a:t>
            </a:r>
          </a:p>
          <a:p/>
          <a:p>
            <a:r>
              <a:t>【来源与审校记录，不口播】</a:t>
            </a:r>
          </a:p>
          <a:p>
            <a:r>
              <a:t>Table4/§6.2 PDF9/1532；Table7/§6.4 PDF11–12/1534–1535；AppendixC/Table9 PDF19/1542；§8.1 PDF14–15/1537–1538。四分类用P09_data JSON；分母14,429,534为后期；0.01%为四舍五入的告警条数占比，不是事件率/recall。Table7 union7,057,012，12子项和7,084,278不应冒充总量。B/C同四项选列非全集，外部渗测2,694,851大于日志故障2,553,794。384IP初始unknown，部分例子不可扩成全体合法；92%只针对外部渗测告警。Remark6的23.77%与Table4的23.72%原文冲突，屏幕/口播按Table4计数；不在现场讲纠错。作者ML标签噪声论断是问题设定分析，无本研究新模型训练性能。用户已选择C方案：原生可编辑横条图，四项仅为主要来源选列，不代表全集或互斥份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第三点看攻击尝试画像。在后期BHR标识的外部来源中，作者记录721,169个IP，映射到223个国家和地区，前五为中国、美国、印度、巴西、德国。这是来源IP的位置，不代表已确认攻击者身份。已识别尝试告警中，地址、随机和端口扫描合计96.7%，其他主要为SSH口令猜测和可疑SSH客户端。</a:t>
            </a:r>
          </a:p>
          <a:p>
            <a:r>
              <a:t>Figure9显示约75%的来源IP仅活跃1日，但也有来源反复出现。最活跃来源累计活跃573日，事后查明是SOC成员未记录的外部BHR测试扫描器；573表示累计有活动的天数。</a:t>
            </a:r>
          </a:p>
          <a:p>
            <a:r>
              <a:t>在连接数足够的子集中，66.22%的连接间隔规律性符合作者使用的botnet启发式特征，检验阈值是p小于0.05。这个结果不是对全部来源独立验证的僵尸网络占比，手动攻击也可能使用自动化工具。</a:t>
            </a:r>
          </a:p>
          <a:p>
            <a:r>
              <a:t>Figure10的受害端分布也很偏斜：1,576个IP，约2.3%，关联55%的告警，其他67,780个IP关联45%；每主机告警中位数为203条。这个分析利用连接日志恢复受害者关联信息，不把扩展关联记录当成新生成的原始告警。SOC确认部分高告警主机提供公网开放服务；作者据此讨论per-host预测模型面对的不均衡分布。</a:t>
            </a:r>
          </a:p>
          <a:p/>
          <a:p>
            <a:r>
              <a:t>【来源与审校记录，不口播】</a:t>
            </a:r>
          </a:p>
          <a:p>
            <a:r>
              <a:t>§6.3 PDF9–11/1532–1534，Table5、Figures9–12。721,169是BHR标识外部来源，总体包含未记录SOC测试扫描器这一案例，不能把IP归类当独立恶意真值。0.3%/28IP并列分母未解：只存审校，正文/口播用少量反复来源，不造替代值。573为累计活跃日，不是连续天。37.17%连接足够子集、66.22%是该子集启发式估计，原文at least5/more than5边界歧义不解；不写所有IP都botnet。Figure10为后期受害IP恢复后的关联数据，1,576/69,356≈2.3%对应55%，部分高告警主机公网服务非全部；203为每主机记录中位数。保持左图右数字结构，必要只换文本。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第四点看11起已知成功攻击的发现渠道和告警状态。研究按取证报告中的IP和同日时间关联告警。Table8中7起由Zeek发现，4起由用户或其他渠道发现。这是这11个案例的发现渠道统计，不是整体检测召回率。</a:t>
            </a:r>
          </a:p>
          <a:p>
            <a:r>
              <a:t>表中状态不能混同：ID4、6的精确相关日志缺失，报告支持由Zeek发现，不能将缺失当成测得零条；ID6同日告警总量也缺失。ID1有两条告警，但与该攻击无关；ID3、7、8相关告警列为零。最后一列是同日全部告警量，包含事件相关和其他告警，不是单独的其他告警数量。</a:t>
            </a:r>
          </a:p>
          <a:p>
            <a:r>
              <a:t>可恢复的案例包括Postgres的1,101条、反射DoS的12条和内部账号挖矿的1条。作者发现失陷后的扫描、密码猜测等网络行为更容易触发告警；少量数据泄漏、少量钓鱼邮件和合法账号的隐蔽使用可能缺少相关网络告警。合法账号可从外部网络登录，未按政策启用2FA也增加判断困难。</a:t>
            </a:r>
          </a:p>
          <a:p>
            <a:r>
              <a:t>挖矿案例后SOC增设规则，后续另一个挖矿事件出现相关告警。这说明有规则迭代，但没有控制实验验证其收益。整体结论是：网络告警对初始失陷和失陷后的隐蔽活动存在盲区。</a:t>
            </a:r>
          </a:p>
          <a:p/>
          <a:p>
            <a:r>
              <a:t>【来源与审校记录，不口播】</a:t>
            </a:r>
          </a:p>
          <a:p>
            <a:r>
              <a:t>Table8/§7.1/Remark7 PDF12–13/1535–1536。完整11行与原脚注见P11_table8_full JSON；7为Zeek渠道ID2/4/5/6/9/10/11；4为User/Other ID1/3/7/8。ID4/6相关日志缺失，ID6总量缺失，ID1两条无关；不能写抓7漏4或全部零。非零可恢复6行含ID1无关，直接相关5行，不与7渠道混用。原正文“7触发且一例无关”歧义留记录。ID9 alert type=0原表如此，不补猜。Total列含相关与其他，ID2 Total163,878，Other144,689，不能混称。规则迭代是作者报告，无控制实验效益；账号/2FA为作者场景解释，不证明普适因果。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再看Figure13中的主机级特征探索。星号是后期三个已知事件ID9、10、11，不是背景类别的CDF曲线。三组短结论分别对应原图：(a)每日告警量熵中是ID10离群；(b)告警序列熵中是ID10、11离群；(c)告警稀有度中是ID9、10、11均离群。</a:t>
            </a:r>
          </a:p>
          <a:p>
            <a:r>
              <a:t>三起事件各持续1日，作者用受害主机此前10天告警计算两种熵，熵较低意味着更强规律性。攻击尝试的日量更随机，但序列更可预测；良性和unknown相对日量更稳定、序列更难预测，这与大量尝试为扫描和口令猜测相符。</a:t>
            </a:r>
          </a:p>
          <a:p>
            <a:r>
              <a:t>稀有度的直观含义是主机当天出现的告警类型有多罕见。作者按全数据频次给告警类型排序，再聚合当天出现的不同类型得分；这里不把具体实现解释扩展到原文未说明的细节。</a:t>
            </a:r>
          </a:p>
          <a:p>
            <a:r>
              <a:t>作者认为这些现象提供了用主机级异常特征识别、优先排序成功攻击信号的机会。但这只基于3起案例的探索性观察，尚不能视为一个已验证的新检测方法，没有独立检测准确率、召回率或部署收益评估。</a:t>
            </a:r>
          </a:p>
          <a:p/>
          <a:p>
            <a:r>
              <a:t>【来源与审校记录，不口播】</a:t>
            </a:r>
          </a:p>
          <a:p>
            <a:r>
              <a:t>Figure13 PDF13/1536；§7.2/Remark8 PDF14/1537。样本仅ID9/10/11，两熵用受害主机此前10天；(a)10、(b)10/11、(c)9/10/11。不得三维全离群。稀有度正文按告警频次排名，主机某日不同类型分数求和，轴却写Average Rareness of Alerts，未给可消歧平均分母；不补实现、不改原图。口播采用排名聚合的直观含义，不讲未解疑点。三个案例的探索不是已验证检测方法，未报告独立准确率/recall/上线收益。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把结果收拢为运营启示。首先是人的投入：107份有人力记录的报告中，65%的事件至少有两名分析师参与。2016年后28起有相关时间戳的事件，攻击后调查平均历时53.2天、最长253天。这是调查经过的日历时长，不是累计劳动工时，也不代表每个事件都有人连续工作53天。</a:t>
            </a:r>
          </a:p>
          <a:p>
            <a:r>
              <a:t>发现时间与分析师工作时间相关：周日发现最少、周一最多，小时分布在8至10点达到峰值。非工作时段发生的事件可能面临更长发现延迟，这是相关观察，时区等其他解释仍然存在，也没有证据证明攻击者刻意选择SOC下班时间。</a:t>
            </a:r>
          </a:p>
          <a:p>
            <a:r>
              <a:t>作者建议把受害IP等关键元数据保留在告警中，使不同日志可链接、可查询，并探索更省存储的表示；这一建议对应告警聚合造成的信息损失和连接日志保存期限。对扫描器和例外服务，作者强调更完善的上下文记录与资产管理。自动遏制和LLM引导分析属于研究建议，其中LLM没有本研究实验验证。</a:t>
            </a:r>
          </a:p>
          <a:p>
            <a:r>
              <a:t>一个已报告的落地结果是新增BHR规则：Postgres案例中的一组HTTP basic认证凭据还匹配3,377条告警，用户名在同类尝试中排第三，SOC据此新增阻断规则。报告表明规则被添加，不是已经验证上线后的检测收益。</a:t>
            </a:r>
          </a:p>
          <a:p/>
          <a:p>
            <a:r>
              <a:t>【来源与审校记录，不口播】</a:t>
            </a:r>
          </a:p>
          <a:p>
            <a:r>
              <a:t>§5 PDF7–8/1530–1531；AppendixA/Figure14/15 PDF18/1541；§6.3 PDF10–11/1533–1534；§7.3 PDF14/1537；§8.2 PDF15/1538；AppendixB PDF19/1542。107份有人力记录报告中65%≥2分析师；调查53.2/max253为2016后28具时戳事件的历时，非累计工时；96双日期报告63同日(66%)为另一分母。off-hours观察只相关，时区为替代解释。日志链接/资产管理为作者建议；LLM设想无本研究实验；新BHR规则为报告落地，无上线对照。3,377是相同认证凭据额外匹配告警，用户名第三，不是整体弱口令检测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这些结果的适用范围有几个边界。第一，单一SOC：NCSA是部分开放的科研设施，其网络、用户与规则环境不代表所有政府或企业SOC；跨时区轮班的大组织也可能有不同的非工作时段问题。第二，研究只获得网络告警，不能直接推广到整个SOC的全部检测能力。第三，数据止于2022年，规则与威胁面会变化。</a:t>
            </a:r>
          </a:p>
          <a:p>
            <a:r>
              <a:t>第四，归因保守且不完备：攻击尝试与良性触发只识别证据明确的部分，unknown占23.72%；取证报告也只涵盖已被发现并调查的成功攻击，无法补齐未知漏发现事件。第五，这是观察性研究：例如2011年前后设施升级和攻击数变化只能解释为相关，不能归为已证实因果效果。</a:t>
            </a:r>
          </a:p>
          <a:p>
            <a:r>
              <a:t>第六，子分析样本有限：调查历时只有2016年后28起；小时级起始与发现分布分别88、91起；双日期延迟96起；Figure13仅3起。因此引用数字时需要同时保留样本、时间和统计单位。公开项目代码与一月样本有助于研究，但不等于全部私有数据都可复现。</a:t>
            </a:r>
          </a:p>
          <a:p/>
          <a:p>
            <a:r>
              <a:t>【来源与审校记录，不口播】</a:t>
            </a:r>
          </a:p>
          <a:p>
            <a:r>
              <a:t>§3 PDF4–5/1527–1528；§5 PDF7–8/1530–1531；§8.3 PDF15–16/1538–1539；AppendixA PDF18–19/1541–1542。单站偏差、网络源下界、旧时段、归因不完备及小样本均保留。2011升级与事件数仅相关，原文明确不应因果。漏发现事件不在报告是从已知报告选择方式的汇报者方法论限定，不声称作者测出漏发现总数。公开一月样本不等于原始四年日志全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最后谈方法论借鉴，这是我对测量设计的归纳。第一，双数据源：海量自动日志描述规模，人工确认的取证事件提供事件证据，两者按IP和时间对齐，使系统输出与已知事件可以互相解释。第二，先定义标签语义：成功攻击、攻击尝试和良性触发之间的区别，说明简单的恶意/良性二分会掩盖重要中间状态；研究开展前，应先明确负样本和背景流量的含义。</a:t>
            </a:r>
          </a:p>
          <a:p>
            <a:r>
              <a:t>第三，保守归因并呈现不确定性：不能判定的告警单列unknown，不为了得到完整分类而强行赋标签。第四，守住证据范围：观察性结果不自动写成因果，小样本探索不当成检测器性能验证。</a:t>
            </a:r>
          </a:p>
          <a:p>
            <a:r>
              <a:t>可迁移的是这些实证分析方法。论文提供运营侧的告警图景，与算法侧WF防御研究可以互补看待，但NCSA的具体业务比例和告警规则不能直接迁移到我们的场景。</a:t>
            </a:r>
          </a:p>
          <a:p/>
          <a:p>
            <a:r>
              <a:t>【来源与审校记录，不口播】</a:t>
            </a:r>
          </a:p>
          <a:p>
            <a:r>
              <a:t>本页为汇报者方法论归纳，参照§3数据源、§6.2分类、§7关联、§8讨论。WF连接是个人借鉴，非主论文的实验或作者验证结论；只迁移测量设计，不迁移具体SOC比例。移走【推】但保留“方法论借鉴”栏目及备注归属，不能伪装全部作者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【口播稿】</a:t>
            </a:r>
          </a:p>
          <a:p>
            <a:r>
              <a:t>收个尾。这篇研究用一个真实SOC的两段网络日志和20年的成功攻击取证报告，把告警过载转成了可追溯的测量结果。后期14,429,534条告警中，与已知成功攻击相关的条数占0.01%，已确认攻击尝试占27.37%，已确认良性触发占48.91%，unknown占23.72%，但未知不表示安全。</a:t>
            </a:r>
          </a:p>
          <a:p>
            <a:r>
              <a:t>同一时期BHR自动处理44.9%，仍剩约1.4万条每天的非BHR处理余量；这提示工作压力，不等于实际逐条人工作业量。11起已知案例中，4起由用户或其他渠道发现，缺少攻击相关网络告警；另有两起Zeek发现事件的精确日志缺失，不能当成测得零。</a:t>
            </a:r>
          </a:p>
          <a:p>
            <a:r>
              <a:t>作者认为运营瓶颈包括人工投入和数据可链接性，机器学习研究应重新审视标签语义，并探索稀有告警组合。这里的稀有模式仍是3案例的探索性线索。对我们，价值主要是双数据源、保守归因和相关性表述纪律这些测量方法。谢谢大家，欢迎讨论。</a:t>
            </a:r>
          </a:p>
          <a:p/>
          <a:p>
            <a:r>
              <a:t>【来源与审校记录，不口播】</a:t>
            </a:r>
          </a:p>
          <a:p>
            <a:r>
              <a:t>摘要PDF2/1525；Table3 PDF8/1531；Table4 PDF9/1532；Table8 PDF13/1536；§7.2/§8 PDF14–16/1537–1539。新增正式清理授权覆盖16页，因此旧“范围外只登记第16页”限制已被本次追加的准确口播/限定整理替代：本页改为7/4渠道对应、缺失非零及非BHR记录余量，保持原数字模块结构。0.01%为后期已知事件相关告警条数比例；unknown非安全；稀有模式仅3样本。归纳句以作者发现/建议为基础，WF方法迁移为汇报者理解，无新增性能宣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248-4"/>
          <p:cNvCxnSpPr/>
          <p:nvPr/>
        </p:nvCxnSpPr>
        <p:spPr>
          <a:xfrm>
            <a:off x="761809" y="3357878"/>
            <a:ext cx="914171" cy="914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91698028252-10"/>
          <p:cNvSpPr/>
          <p:nvPr/>
        </p:nvSpPr>
        <p:spPr>
          <a:xfrm>
            <a:off x="761809" y="4711727"/>
            <a:ext cx="5613435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91698028250-5"/>
          <p:cNvSpPr txBox="1"/>
          <p:nvPr/>
        </p:nvSpPr>
        <p:spPr>
          <a:xfrm>
            <a:off x="761809" y="610305"/>
            <a:ext cx="11427143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225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USENIX SECURITY 2024 · MEASUREMENT STUDY · SOC ALERTS</a:t>
            </a:r>
            <a:endParaRPr sz="1120" spc="225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el-1791698028251-6"/>
          <p:cNvSpPr txBox="1"/>
          <p:nvPr/>
        </p:nvSpPr>
        <p:spPr>
          <a:xfrm>
            <a:off x="761809" y="986448"/>
            <a:ext cx="11427143" cy="5427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3890" b="1" spc="22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True Attacks, Attack Attempts,</a:t>
            </a:r>
            <a:endParaRPr sz="3890" b="1" spc="22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el-1791698028251-7"/>
          <p:cNvSpPr txBox="1"/>
          <p:nvPr/>
        </p:nvSpPr>
        <p:spPr>
          <a:xfrm>
            <a:off x="761809" y="1600360"/>
            <a:ext cx="8729795" cy="5427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3890" b="1" spc="22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 Benign Triggers?</a:t>
            </a:r>
            <a:endParaRPr sz="3890" b="1" spc="22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28254-11"/>
          <p:cNvSpPr txBox="1"/>
          <p:nvPr/>
        </p:nvSpPr>
        <p:spPr>
          <a:xfrm>
            <a:off x="761809" y="2376155"/>
            <a:ext cx="10665333" cy="7008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750"/>
              </a:lnSpc>
            </a:pPr>
            <a:r>
              <a:rPr sz="1720" spc="22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对一个安全运营中心（SOC）网络告警的实证测量 —— 2018—2022两段1.15亿条告警与20年227起已知成功攻击</a:t>
            </a:r>
            <a:endParaRPr sz="1720" spc="22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91698028251-8"/>
          <p:cNvSpPr txBox="1"/>
          <p:nvPr/>
        </p:nvSpPr>
        <p:spPr>
          <a:xfrm>
            <a:off x="761809" y="3638795"/>
            <a:ext cx="10665333" cy="8253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60"/>
              </a:lnSpc>
            </a:pPr>
            <a:r>
              <a:rPr sz="127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Limin Yang*, Zhi Chen*（共同第一作者）, Chenkai Wang, Zhenning Zhang, Sushruth Booma, Phuong Cao, Constantin Adam, Alexander Withers, Zbigniew Kalbarczyk, Ravishankar K. Iyer, Gang Wang</a:t>
            </a:r>
            <a:endParaRPr sz="127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2160"/>
              </a:lnSpc>
            </a:pPr>
            <a:r>
              <a:rPr sz="127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UIUC · NCSA · IBM Research</a:t>
            </a:r>
            <a:endParaRPr sz="127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91698028251-9"/>
          <p:cNvSpPr txBox="1"/>
          <p:nvPr/>
        </p:nvSpPr>
        <p:spPr>
          <a:xfrm>
            <a:off x="942739" y="4797430"/>
            <a:ext cx="56854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spc="75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实证测量论文：不提出新攻击/防御算法，量化回答"告警中有多少真信号"</a:t>
            </a:r>
            <a:endParaRPr sz="1190" spc="75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28246-3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" name="el-1791698028236-1"/>
          <p:cNvSpPr txBox="1"/>
          <p:nvPr/>
        </p:nvSpPr>
        <p:spPr>
          <a:xfrm>
            <a:off x="761809" y="5813523"/>
            <a:ext cx="3313604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汇报人：填写姓名 · 单位：填写单位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214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研究汇报 · 填写日期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28238-2"/>
          <p:cNvSpPr txBox="1"/>
          <p:nvPr/>
        </p:nvSpPr>
        <p:spPr>
          <a:xfrm>
            <a:off x="9705483" y="6147708"/>
            <a:ext cx="2483469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SOC ALERTS · 01 / 16</a:t>
            </a:r>
            <a:endParaRPr sz="1120" spc="15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el-1791698028419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2024，首页、摘要、§3、Table 3。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417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l-1791698028462-16"/>
          <p:cNvPicPr/>
          <p:nvPr/>
        </p:nvPicPr>
        <p:blipFill>
          <a:blip r:embed="rId1"/>
          <a:srcRect b="47388"/>
          <a:stretch>
            <a:fillRect/>
          </a:stretch>
        </p:blipFill>
        <p:spPr>
          <a:xfrm>
            <a:off x="5485028" y="991210"/>
            <a:ext cx="6018295" cy="2361609"/>
          </a:xfrm>
          <a:prstGeom prst="rect">
            <a:avLst/>
          </a:prstGeom>
          <a:ln w="9523" algn="in">
            <a:solidFill>
              <a:srgbClr val="D8DDE3"/>
            </a:solidFill>
            <a:prstDash val="solid"/>
          </a:ln>
        </p:spPr>
      </p:pic>
      <p:pic>
        <p:nvPicPr>
          <p:cNvPr id="4" name="el-1791698028534-17"/>
          <p:cNvPicPr/>
          <p:nvPr/>
        </p:nvPicPr>
        <p:blipFill>
          <a:blip r:embed="rId2"/>
          <a:srcRect b="41883"/>
          <a:stretch>
            <a:fillRect/>
          </a:stretch>
        </p:blipFill>
        <p:spPr>
          <a:xfrm>
            <a:off x="5485028" y="3790860"/>
            <a:ext cx="6018295" cy="2361609"/>
          </a:xfrm>
          <a:prstGeom prst="rect">
            <a:avLst/>
          </a:prstGeom>
          <a:ln w="9523" algn="in">
            <a:solidFill>
              <a:srgbClr val="D8DDE3"/>
            </a:solidFill>
            <a:prstDash val="solid"/>
          </a:ln>
        </p:spPr>
      </p:pic>
      <p:cxnSp>
        <p:nvCxnSpPr>
          <p:cNvPr id="5" name="el-1791698028418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98028419-4"/>
          <p:cNvSpPr txBox="1"/>
          <p:nvPr/>
        </p:nvSpPr>
        <p:spPr>
          <a:xfrm>
            <a:off x="685629" y="155600"/>
            <a:ext cx="11503323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AUTHOR &amp; TEAM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28419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第一作者与团队：UIUC × NCSA × IBM Research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28534-18"/>
          <p:cNvSpPr txBox="1"/>
          <p:nvPr/>
        </p:nvSpPr>
        <p:spPr>
          <a:xfrm>
            <a:off x="685629" y="1153094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28425-12"/>
          <p:cNvSpPr txBox="1"/>
          <p:nvPr/>
        </p:nvSpPr>
        <p:spPr>
          <a:xfrm>
            <a:off x="1009398" y="1153094"/>
            <a:ext cx="376885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Limin Yang — 共同第一作者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28422-8"/>
          <p:cNvSpPr txBox="1"/>
          <p:nvPr/>
        </p:nvSpPr>
        <p:spPr>
          <a:xfrm>
            <a:off x="1009398" y="1486386"/>
            <a:ext cx="4056636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Limin Yang与Zhi Chen为共同第一作者，论文以*标注贡献相同。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91698028534-19"/>
          <p:cNvSpPr txBox="1"/>
          <p:nvPr/>
        </p:nvSpPr>
        <p:spPr>
          <a:xfrm>
            <a:off x="685629" y="2135114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8425-13"/>
          <p:cNvSpPr txBox="1"/>
          <p:nvPr/>
        </p:nvSpPr>
        <p:spPr>
          <a:xfrm>
            <a:off x="1009398" y="2135114"/>
            <a:ext cx="517818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UIUC Gang Wang 组 · 安全 × 机器学习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8422-9"/>
          <p:cNvSpPr txBox="1"/>
          <p:nvPr/>
        </p:nvSpPr>
        <p:spPr>
          <a:xfrm>
            <a:off x="1009398" y="2468406"/>
            <a:ext cx="4056636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此前一作发表 CADE（USENIX Security 2021，安全场景概念漂移检测）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8534-20"/>
          <p:cNvSpPr txBox="1"/>
          <p:nvPr/>
        </p:nvSpPr>
        <p:spPr>
          <a:xfrm>
            <a:off x="685629" y="3117134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28425-14"/>
          <p:cNvSpPr txBox="1"/>
          <p:nvPr/>
        </p:nvSpPr>
        <p:spPr>
          <a:xfrm>
            <a:off x="1009398" y="3117134"/>
            <a:ext cx="2872659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产学协作 + 真实运营数据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8422-10"/>
          <p:cNvSpPr txBox="1"/>
          <p:nvPr/>
        </p:nvSpPr>
        <p:spPr>
          <a:xfrm>
            <a:off x="1009398" y="3450426"/>
            <a:ext cx="4056636" cy="7302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NCSA安全团队（Phuong Cao、Alexander Withers）提供数据与运营上下文；IBM Research参与；合著者包含该SOC成员。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8534-21"/>
          <p:cNvSpPr txBox="1"/>
          <p:nvPr/>
        </p:nvSpPr>
        <p:spPr>
          <a:xfrm>
            <a:off x="685629" y="4342576"/>
            <a:ext cx="422804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4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28425-15"/>
          <p:cNvSpPr txBox="1"/>
          <p:nvPr/>
        </p:nvSpPr>
        <p:spPr>
          <a:xfrm>
            <a:off x="1009398" y="4342576"/>
            <a:ext cx="160550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伦理与开放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8422-11"/>
          <p:cNvSpPr txBox="1"/>
          <p:nvPr/>
        </p:nvSpPr>
        <p:spPr>
          <a:xfrm>
            <a:off x="1009398" y="4675868"/>
            <a:ext cx="4056636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研究经IRB审查批准；多数分析使用哈希IP；公开项目代码与Postgres案例当月的脱敏告警样本。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8535-22"/>
          <p:cNvSpPr txBox="1"/>
          <p:nvPr/>
        </p:nvSpPr>
        <p:spPr>
          <a:xfrm>
            <a:off x="5485028" y="3352819"/>
            <a:ext cx="6703924" cy="180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dblp书目页面（含本论文条目；同名消歧页）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8535-23"/>
          <p:cNvSpPr txBox="1"/>
          <p:nvPr/>
        </p:nvSpPr>
        <p:spPr>
          <a:xfrm>
            <a:off x="5485028" y="6152469"/>
            <a:ext cx="6703924" cy="180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数据来源机构：NCSA 官网（美国国家超级计算应用中心，ncsa.illinois.edu）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419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al.，USENIX Security 2024，首页/§3/§8.3；USENIX 2021、作者CV；dblp/NCSA网页。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420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el-1791698028417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395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8400-8"/>
          <p:cNvCxnSpPr/>
          <p:nvPr/>
        </p:nvCxnSpPr>
        <p:spPr>
          <a:xfrm>
            <a:off x="685629" y="243745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8400-9"/>
          <p:cNvCxnSpPr/>
          <p:nvPr/>
        </p:nvCxnSpPr>
        <p:spPr>
          <a:xfrm>
            <a:off x="6323019" y="243745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8400-10"/>
          <p:cNvCxnSpPr/>
          <p:nvPr/>
        </p:nvCxnSpPr>
        <p:spPr>
          <a:xfrm>
            <a:off x="685629" y="392893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8400-11"/>
          <p:cNvCxnSpPr/>
          <p:nvPr/>
        </p:nvCxnSpPr>
        <p:spPr>
          <a:xfrm>
            <a:off x="6323019" y="3928937"/>
            <a:ext cx="518030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839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91698028398-4"/>
          <p:cNvSpPr txBox="1"/>
          <p:nvPr/>
        </p:nvSpPr>
        <p:spPr>
          <a:xfrm>
            <a:off x="685629" y="155600"/>
            <a:ext cx="1123764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OUTLINE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28398-5"/>
          <p:cNvSpPr txBox="1"/>
          <p:nvPr/>
        </p:nvSpPr>
        <p:spPr>
          <a:xfrm>
            <a:off x="685629" y="369859"/>
            <a:ext cx="11084328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目录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8402-12"/>
          <p:cNvSpPr txBox="1"/>
          <p:nvPr/>
        </p:nvSpPr>
        <p:spPr>
          <a:xfrm>
            <a:off x="685629" y="261362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8405-16"/>
          <p:cNvSpPr txBox="1"/>
          <p:nvPr/>
        </p:nvSpPr>
        <p:spPr>
          <a:xfrm>
            <a:off x="1256986" y="2613626"/>
            <a:ext cx="476226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背景与概念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28405-17"/>
          <p:cNvSpPr txBox="1"/>
          <p:nvPr/>
        </p:nvSpPr>
        <p:spPr>
          <a:xfrm>
            <a:off x="1256986" y="301833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 / SIEM / 告警 triage 是什么；告警过载问题；为什么需要定量测量（3 个研究问题）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8402-13"/>
          <p:cNvSpPr txBox="1"/>
          <p:nvPr/>
        </p:nvSpPr>
        <p:spPr>
          <a:xfrm>
            <a:off x="6323019" y="261362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el-1791698028405-18"/>
          <p:cNvSpPr txBox="1"/>
          <p:nvPr/>
        </p:nvSpPr>
        <p:spPr>
          <a:xfrm>
            <a:off x="6894376" y="2613626"/>
            <a:ext cx="476226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数据集与方法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8405-19"/>
          <p:cNvSpPr txBox="1"/>
          <p:nvPr/>
        </p:nvSpPr>
        <p:spPr>
          <a:xfrm>
            <a:off x="6894376" y="301833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两段1.15亿条Zeek告警与20年227起已知成功攻击取证；三类已解释原因与unknown的定义和判定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8402-14"/>
          <p:cNvSpPr txBox="1"/>
          <p:nvPr/>
        </p:nvSpPr>
        <p:spPr>
          <a:xfrm>
            <a:off x="685629" y="410510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8405-20"/>
          <p:cNvSpPr txBox="1"/>
          <p:nvPr/>
        </p:nvSpPr>
        <p:spPr>
          <a:xfrm>
            <a:off x="1256986" y="4105106"/>
            <a:ext cx="4762262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核心量化发现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8406-21"/>
          <p:cNvSpPr txBox="1"/>
          <p:nvPr/>
        </p:nvSpPr>
        <p:spPr>
          <a:xfrm>
            <a:off x="1256986" y="450981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Postgres案例；告警体量与自动化、四分类和尝试画像；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告警与事件关联、稀有主机模式线索。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8402-15"/>
          <p:cNvSpPr txBox="1"/>
          <p:nvPr/>
        </p:nvSpPr>
        <p:spPr>
          <a:xfrm>
            <a:off x="6323019" y="4105106"/>
            <a:ext cx="891317" cy="380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29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el-1791698028406-22"/>
          <p:cNvSpPr txBox="1"/>
          <p:nvPr/>
        </p:nvSpPr>
        <p:spPr>
          <a:xfrm>
            <a:off x="6894376" y="4105106"/>
            <a:ext cx="5182780" cy="328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启示 · 局限 · 借鉴</a:t>
            </a:r>
            <a:endParaRPr sz="17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8406-23"/>
          <p:cNvSpPr txBox="1"/>
          <p:nvPr/>
        </p:nvSpPr>
        <p:spPr>
          <a:xfrm>
            <a:off x="6894376" y="4509817"/>
            <a:ext cx="4608947" cy="486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SOC运营与ML研究启示（区分观察结果与作者建议）；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905"/>
              </a:lnSpc>
            </a:pP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外推边界、方法论借鉴。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39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2024，§1、§3–8。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399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el-179169802839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555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91698028564-12"/>
          <p:cNvCxnSpPr/>
          <p:nvPr>
            <p:custDataLst>
              <p:tags r:id="rId1"/>
            </p:custDataLst>
          </p:nvPr>
        </p:nvCxnSpPr>
        <p:spPr>
          <a:xfrm>
            <a:off x="728408" y="4920598"/>
            <a:ext cx="644" cy="6120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91698028564-13"/>
          <p:cNvCxnSpPr/>
          <p:nvPr>
            <p:custDataLst>
              <p:tags r:id="rId2"/>
            </p:custDataLst>
          </p:nvPr>
        </p:nvCxnSpPr>
        <p:spPr>
          <a:xfrm>
            <a:off x="4492986" y="4920690"/>
            <a:ext cx="644" cy="6120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91698028564-14"/>
          <p:cNvCxnSpPr/>
          <p:nvPr>
            <p:custDataLst>
              <p:tags r:id="rId3"/>
            </p:custDataLst>
          </p:nvPr>
        </p:nvCxnSpPr>
        <p:spPr>
          <a:xfrm>
            <a:off x="8047127" y="4954363"/>
            <a:ext cx="644" cy="6120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91698028556-3"/>
          <p:cNvCxnSpPr/>
          <p:nvPr/>
        </p:nvCxnSpPr>
        <p:spPr>
          <a:xfrm>
            <a:off x="685629" y="615588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91698028557-4"/>
          <p:cNvSpPr txBox="1"/>
          <p:nvPr/>
        </p:nvSpPr>
        <p:spPr>
          <a:xfrm>
            <a:off x="685629" y="155600"/>
            <a:ext cx="1114622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 · 背景与概念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el-179169802855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SOC 的日常：从告警 triage 到安全响应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el-1791698028565-15"/>
          <p:cNvSpPr txBox="1"/>
          <p:nvPr>
            <p:custDataLst>
              <p:tags r:id="rId4"/>
            </p:custDataLst>
          </p:nvPr>
        </p:nvSpPr>
        <p:spPr>
          <a:xfrm>
            <a:off x="859155" y="4920615"/>
            <a:ext cx="3301365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 · 瓶颈在哪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91698028565-16"/>
          <p:cNvSpPr txBox="1"/>
          <p:nvPr>
            <p:custDataLst>
              <p:tags r:id="rId5"/>
            </p:custDataLst>
          </p:nvPr>
        </p:nvSpPr>
        <p:spPr>
          <a:xfrm>
            <a:off x="859155" y="5139055"/>
            <a:ext cx="3020695" cy="5314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 威胁检测的关键瓶颈是什么？攻击者如何利用/响应这些瓶颈？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91698028565-17"/>
          <p:cNvSpPr txBox="1"/>
          <p:nvPr>
            <p:custDataLst>
              <p:tags r:id="rId6"/>
            </p:custDataLst>
          </p:nvPr>
        </p:nvSpPr>
        <p:spPr>
          <a:xfrm>
            <a:off x="4624070" y="4934585"/>
            <a:ext cx="3026410" cy="1771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RQ2 · 有多过量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91698028566-18"/>
          <p:cNvSpPr txBox="1"/>
          <p:nvPr>
            <p:custDataLst>
              <p:tags r:id="rId7"/>
            </p:custDataLst>
          </p:nvPr>
        </p:nvSpPr>
        <p:spPr>
          <a:xfrm>
            <a:off x="4624070" y="5139055"/>
            <a:ext cx="2872740" cy="5314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告警到底过量到什么程度？触发背后的常见原因是什么？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91698028566-19"/>
          <p:cNvSpPr txBox="1"/>
          <p:nvPr>
            <p:custDataLst>
              <p:tags r:id="rId8"/>
            </p:custDataLst>
          </p:nvPr>
        </p:nvSpPr>
        <p:spPr>
          <a:xfrm>
            <a:off x="8178058" y="4954363"/>
            <a:ext cx="3597223" cy="191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RQ3 · 指示能力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91698028566-20"/>
          <p:cNvSpPr txBox="1"/>
          <p:nvPr>
            <p:custDataLst>
              <p:tags r:id="rId9"/>
            </p:custDataLst>
          </p:nvPr>
        </p:nvSpPr>
        <p:spPr>
          <a:xfrm>
            <a:off x="8178165" y="5172710"/>
            <a:ext cx="2901950" cy="4984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告警在多大程度上能关联或指示真实/成功的攻击？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91698028563-11"/>
          <p:cNvSpPr txBox="1"/>
          <p:nvPr/>
        </p:nvSpPr>
        <p:spPr>
          <a:xfrm>
            <a:off x="685800" y="5699125"/>
            <a:ext cx="10494010" cy="2520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已有研究多使用较短期日志或黑盒评测；本文结合长期数据与运营上下文分析。</a:t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855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2024，§1–3、Figure 1。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9169802855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el-179169802855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pic>
        <p:nvPicPr>
          <p:cNvPr id="37" name="v3_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045" y="1222975"/>
            <a:ext cx="5562600" cy="2914720"/>
          </a:xfrm>
          <a:prstGeom prst="rect">
            <a:avLst/>
          </a:prstGeom>
        </p:spPr>
      </p:pic>
      <p:sp>
        <p:nvSpPr>
          <p:cNvPr id="38" name="v3_P04 fig-cn"/>
          <p:cNvSpPr>
            <a:spLocks noGrp="1"/>
          </p:cNvSpPr>
          <p:nvPr/>
        </p:nvSpPr>
        <p:spPr>
          <a:xfrm>
            <a:off x="765810" y="4262755"/>
            <a:ext cx="556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1：绿色模块为本文数据来源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el-1791698028567-21"/>
          <p:cNvCxnSpPr/>
          <p:nvPr/>
        </p:nvCxnSpPr>
        <p:spPr>
          <a:xfrm>
            <a:off x="6139009" y="1404251"/>
            <a:ext cx="5551836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91698028569-25"/>
          <p:cNvSpPr/>
          <p:nvPr/>
        </p:nvSpPr>
        <p:spPr>
          <a:xfrm>
            <a:off x="6139009" y="1551851"/>
            <a:ext cx="496962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91698028567-22"/>
          <p:cNvCxnSpPr/>
          <p:nvPr/>
        </p:nvCxnSpPr>
        <p:spPr>
          <a:xfrm>
            <a:off x="6139009" y="2485961"/>
            <a:ext cx="5551836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91698028569-27"/>
          <p:cNvSpPr/>
          <p:nvPr/>
        </p:nvSpPr>
        <p:spPr>
          <a:xfrm>
            <a:off x="6139009" y="2633561"/>
            <a:ext cx="569869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91698028568-23"/>
          <p:cNvCxnSpPr/>
          <p:nvPr/>
        </p:nvCxnSpPr>
        <p:spPr>
          <a:xfrm>
            <a:off x="6139009" y="3567671"/>
            <a:ext cx="5551836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91698028570-29"/>
          <p:cNvSpPr/>
          <p:nvPr/>
        </p:nvSpPr>
        <p:spPr>
          <a:xfrm>
            <a:off x="6139009" y="3715271"/>
            <a:ext cx="615399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91698028569-24"/>
          <p:cNvSpPr txBox="1"/>
          <p:nvPr/>
        </p:nvSpPr>
        <p:spPr>
          <a:xfrm>
            <a:off x="6234235" y="1580419"/>
            <a:ext cx="638849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7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SOC</a:t>
            </a:r>
            <a:endParaRPr sz="1120" spc="7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el-1791698028572-30"/>
          <p:cNvSpPr txBox="1"/>
          <p:nvPr/>
        </p:nvSpPr>
        <p:spPr>
          <a:xfrm>
            <a:off x="6788150" y="1551940"/>
            <a:ext cx="49022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 Operations Center 安全运营中心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91698028572-31"/>
          <p:cNvSpPr txBox="1"/>
          <p:nvPr/>
        </p:nvSpPr>
        <p:spPr>
          <a:xfrm>
            <a:off x="6788332" y="1885143"/>
            <a:ext cx="4902512" cy="47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组织内负责检测、分析、响应安全威胁的核心单元；由人、流程、技术三要素构成（团队 + playbook + IDS/SIEM 等工具）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91698028569-26"/>
          <p:cNvSpPr txBox="1"/>
          <p:nvPr/>
        </p:nvSpPr>
        <p:spPr>
          <a:xfrm>
            <a:off x="6234235" y="2662129"/>
            <a:ext cx="75746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7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SIEM</a:t>
            </a:r>
            <a:endParaRPr sz="1120" spc="7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el-1791698028572-32"/>
          <p:cNvSpPr txBox="1"/>
          <p:nvPr/>
        </p:nvSpPr>
        <p:spPr>
          <a:xfrm>
            <a:off x="6861175" y="2633345"/>
            <a:ext cx="4829175" cy="294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 Information &amp; Event Management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91698028572-33"/>
          <p:cNvSpPr txBox="1"/>
          <p:nvPr/>
        </p:nvSpPr>
        <p:spPr>
          <a:xfrm>
            <a:off x="6861240" y="2966853"/>
            <a:ext cx="4829604" cy="47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聚合网络监控、系统日志、审计日志与威胁情报的平台，给分析师实时安全事件视图；本文 SOC 用 Splunk 实现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91698028570-28"/>
          <p:cNvSpPr txBox="1"/>
          <p:nvPr/>
        </p:nvSpPr>
        <p:spPr>
          <a:xfrm>
            <a:off x="6234235" y="3743839"/>
            <a:ext cx="89441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7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Triage</a:t>
            </a:r>
            <a:endParaRPr sz="1120" spc="7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el-1791698028572-34"/>
          <p:cNvSpPr txBox="1"/>
          <p:nvPr/>
        </p:nvSpPr>
        <p:spPr>
          <a:xfrm>
            <a:off x="6906895" y="3715385"/>
            <a:ext cx="4784090" cy="306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告警分诊：分析师的日常瓶颈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91698028573-35"/>
          <p:cNvSpPr txBox="1"/>
          <p:nvPr/>
        </p:nvSpPr>
        <p:spPr>
          <a:xfrm>
            <a:off x="6906770" y="4048563"/>
            <a:ext cx="4784074" cy="472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19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IDS 等工具持续产生 alert，人工判断"哪些要处理"；告警过载导致 alert fatigue 与 burnout（用户研究结论）</a:t>
            </a:r>
            <a:endParaRPr sz="119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852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8857-10"/>
          <p:cNvCxnSpPr/>
          <p:nvPr/>
        </p:nvCxnSpPr>
        <p:spPr>
          <a:xfrm>
            <a:off x="685629" y="1560335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8858-11"/>
          <p:cNvCxnSpPr/>
          <p:nvPr/>
        </p:nvCxnSpPr>
        <p:spPr>
          <a:xfrm>
            <a:off x="685629" y="3132460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8856-7"/>
          <p:cNvCxnSpPr/>
          <p:nvPr/>
        </p:nvCxnSpPr>
        <p:spPr>
          <a:xfrm>
            <a:off x="685629" y="5004547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8852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98028855-5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· 数据集与方法 / 2.1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28856-6"/>
          <p:cNvSpPr txBox="1"/>
          <p:nvPr/>
        </p:nvSpPr>
        <p:spPr>
          <a:xfrm>
            <a:off x="685629" y="369859"/>
            <a:ext cx="11328107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双数据源：海量告警 × 人工确认的真实攻击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28859-12"/>
          <p:cNvSpPr txBox="1"/>
          <p:nvPr/>
        </p:nvSpPr>
        <p:spPr>
          <a:xfrm>
            <a:off x="685629" y="1717458"/>
            <a:ext cx="1649329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5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网络告警日志</a:t>
            </a:r>
            <a:endParaRPr sz="15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28860-14"/>
          <p:cNvSpPr txBox="1"/>
          <p:nvPr/>
        </p:nvSpPr>
        <p:spPr>
          <a:xfrm>
            <a:off x="685629" y="2093602"/>
            <a:ext cx="3850566" cy="372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5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115,617,526</a:t>
            </a:r>
            <a:r>
              <a:rPr sz="14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条</a:t>
            </a:r>
            <a:endParaRPr sz="14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8868-24"/>
          <p:cNvSpPr txBox="1"/>
          <p:nvPr/>
        </p:nvSpPr>
        <p:spPr>
          <a:xfrm>
            <a:off x="685629" y="2523012"/>
            <a:ext cx="2380655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Zeek NIDS｜两段日志</a:t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2018/04—2020/08</a:t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2020/12—2022/07</a:t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28862-16"/>
          <p:cNvSpPr txBox="1"/>
          <p:nvPr/>
        </p:nvSpPr>
        <p:spPr>
          <a:xfrm>
            <a:off x="3313871" y="1717458"/>
            <a:ext cx="419366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时间戳、涉及 IP、告警类别与元数据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8863-17"/>
          <p:cNvSpPr txBox="1"/>
          <p:nvPr/>
        </p:nvSpPr>
        <p:spPr>
          <a:xfrm>
            <a:off x="7570482" y="1717458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BHR 标签：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 起自动封禁机制生效（2020–2022 可用于识别 attempt）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8863-18"/>
          <p:cNvSpPr txBox="1"/>
          <p:nvPr/>
        </p:nvSpPr>
        <p:spPr>
          <a:xfrm>
            <a:off x="3313871" y="2265009"/>
            <a:ext cx="459590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SIEM：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Splunk 聚合多源日志供分析师实时查看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8864-19"/>
          <p:cNvSpPr txBox="1"/>
          <p:nvPr/>
        </p:nvSpPr>
        <p:spPr>
          <a:xfrm>
            <a:off x="7570482" y="2265009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不含主机 IDS / EDR / 商业工具告警 → 是该 SOC 全部告警的</a:t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下界</a:t>
            </a:r>
            <a:endParaRPr sz="123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8859-13"/>
          <p:cNvSpPr txBox="1"/>
          <p:nvPr/>
        </p:nvSpPr>
        <p:spPr>
          <a:xfrm>
            <a:off x="685629" y="3289583"/>
            <a:ext cx="1828492" cy="5856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355"/>
              </a:lnSpc>
            </a:pPr>
            <a:r>
              <a:rPr sz="15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真实攻击 Ground Truth</a:t>
            </a:r>
            <a:endParaRPr sz="15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8860-15"/>
          <p:cNvSpPr txBox="1"/>
          <p:nvPr/>
        </p:nvSpPr>
        <p:spPr>
          <a:xfrm>
            <a:off x="685629" y="3965689"/>
            <a:ext cx="3643354" cy="372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5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227 </a:t>
            </a:r>
            <a:r>
              <a:rPr sz="14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起 / 20 年</a:t>
            </a:r>
            <a:endParaRPr sz="14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28868-25"/>
          <p:cNvSpPr txBox="1"/>
          <p:nvPr/>
        </p:nvSpPr>
        <p:spPr>
          <a:xfrm>
            <a:off x="685629" y="4395099"/>
            <a:ext cx="2380655" cy="4142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20"/>
              </a:lnSpc>
            </a:pPr>
            <a:r>
              <a:rPr sz="108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攻击后取证报告 · 2002.01–2022.03</a:t>
            </a:r>
            <a:endParaRPr sz="108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8864-20"/>
          <p:cNvSpPr txBox="1"/>
          <p:nvPr/>
        </p:nvSpPr>
        <p:spPr>
          <a:xfrm>
            <a:off x="3313871" y="3289583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 compromise 系统/造成重大降级、数据泄露或失陷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8865-21"/>
          <p:cNvSpPr txBox="1"/>
          <p:nvPr/>
        </p:nvSpPr>
        <p:spPr>
          <a:xfrm>
            <a:off x="7570482" y="3289583"/>
            <a:ext cx="461847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重叠期：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 </a:t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起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落在告警数据覆盖的 2018–2022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8865-22"/>
          <p:cNvSpPr txBox="1"/>
          <p:nvPr/>
        </p:nvSpPr>
        <p:spPr>
          <a:xfrm>
            <a:off x="3313871" y="3837133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形态：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非结构化报告（账号、IP、机器、调查过程与结论）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866-23"/>
          <p:cNvSpPr txBox="1"/>
          <p:nvPr/>
        </p:nvSpPr>
        <p:spPr>
          <a:xfrm>
            <a:off x="7570482" y="3837133"/>
            <a:ext cx="3932842" cy="4713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5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名研究人员人工标注 1–2 个月 + MITRE ATT&amp;CK 编码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855-4"/>
          <p:cNvSpPr txBox="1"/>
          <p:nvPr/>
        </p:nvSpPr>
        <p:spPr>
          <a:xfrm>
            <a:off x="685629" y="5142625"/>
            <a:ext cx="10817695" cy="731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1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环境特征：NCSA为中大型科研设施，数千台服务器、17,000+活跃用户、9人SOC团队，取得SOC-2-Type-2认证。网络为分段开放网络，内外部研究者均可访问计算节点。单一SOC且仅含网络告警，限制了结论外推范围。</a:t>
            </a:r>
            <a:endParaRPr sz="11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8856-8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2024，§3、§5、Table 3、Appendix A。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91698028856-9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el-1791698028852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897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l-1791698028992-8"/>
          <p:cNvPicPr/>
          <p:nvPr/>
        </p:nvPicPr>
        <p:blipFill>
          <a:blip r:embed="rId1"/>
          <a:stretch>
            <a:fillRect/>
          </a:stretch>
        </p:blipFill>
        <p:spPr>
          <a:xfrm>
            <a:off x="685629" y="2049565"/>
            <a:ext cx="5170782" cy="3024907"/>
          </a:xfrm>
          <a:prstGeom prst="rect">
            <a:avLst/>
          </a:prstGeom>
          <a:ln w="9523" algn="in">
            <a:solidFill>
              <a:srgbClr val="D8DDE3"/>
            </a:solidFill>
            <a:prstDash val="solid"/>
          </a:ln>
        </p:spPr>
      </p:pic>
      <p:cxnSp>
        <p:nvCxnSpPr>
          <p:cNvPr id="4" name="el-1791698029002-13"/>
          <p:cNvCxnSpPr/>
          <p:nvPr/>
        </p:nvCxnSpPr>
        <p:spPr>
          <a:xfrm>
            <a:off x="6313496" y="1690824"/>
            <a:ext cx="5189827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002-14"/>
          <p:cNvCxnSpPr/>
          <p:nvPr/>
        </p:nvCxnSpPr>
        <p:spPr>
          <a:xfrm>
            <a:off x="6313496" y="2700222"/>
            <a:ext cx="5189827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003-15"/>
          <p:cNvCxnSpPr/>
          <p:nvPr/>
        </p:nvCxnSpPr>
        <p:spPr>
          <a:xfrm>
            <a:off x="6313496" y="3709620"/>
            <a:ext cx="5189827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98028994-10"/>
          <p:cNvSpPr/>
          <p:nvPr/>
        </p:nvSpPr>
        <p:spPr>
          <a:xfrm>
            <a:off x="6313496" y="4828527"/>
            <a:ext cx="5189827" cy="914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91698029001-12"/>
          <p:cNvCxnSpPr/>
          <p:nvPr/>
        </p:nvCxnSpPr>
        <p:spPr>
          <a:xfrm>
            <a:off x="6327780" y="4828527"/>
            <a:ext cx="914" cy="914618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9169802897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91698028978-4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· 数据集与方法 / 2.2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8979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告警三分法：True Attack / Attack Attempt / Benign Trigger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8994-11"/>
          <p:cNvSpPr txBox="1"/>
          <p:nvPr/>
        </p:nvSpPr>
        <p:spPr>
          <a:xfrm>
            <a:off x="685629" y="5457467"/>
            <a:ext cx="6068765" cy="180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 Table 1：关键术语定义（Definitions）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004-16"/>
          <p:cNvSpPr txBox="1"/>
          <p:nvPr/>
        </p:nvSpPr>
        <p:spPr>
          <a:xfrm>
            <a:off x="6313496" y="1847948"/>
            <a:ext cx="576309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el-1791698029006-20"/>
          <p:cNvSpPr txBox="1"/>
          <p:nvPr/>
        </p:nvSpPr>
        <p:spPr>
          <a:xfrm>
            <a:off x="6789627" y="1828902"/>
            <a:ext cx="539932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attempts ← BHR 自动封禁标签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006-21"/>
          <p:cNvSpPr txBox="1"/>
          <p:nvPr/>
        </p:nvSpPr>
        <p:spPr>
          <a:xfrm>
            <a:off x="6789627" y="2138388"/>
            <a:ext cx="4713696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40"/>
              </a:lnSpc>
            </a:pP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BHR仅封禁匹配高置信签名的行为；其标签仍混有良性触发，剔除后攻击尝试占27.37%。该分类是保守估计。</a:t>
            </a:r>
            <a:endParaRPr sz="116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004-17"/>
          <p:cNvSpPr txBox="1"/>
          <p:nvPr/>
        </p:nvSpPr>
        <p:spPr>
          <a:xfrm>
            <a:off x="6313496" y="2857345"/>
            <a:ext cx="576309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007-22"/>
          <p:cNvSpPr txBox="1"/>
          <p:nvPr/>
        </p:nvSpPr>
        <p:spPr>
          <a:xfrm>
            <a:off x="6789627" y="2838300"/>
            <a:ext cx="539932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Benign triggers ← 2 名分析师 + IP 白名单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006-19"/>
          <p:cNvSpPr txBox="1"/>
          <p:nvPr/>
        </p:nvSpPr>
        <p:spPr>
          <a:xfrm>
            <a:off x="6789627" y="3147785"/>
            <a:ext cx="4713696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40"/>
              </a:lnSpc>
            </a:pP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逐告警类别复核，结合组织上下文人工确认；方法刻意保守、只标有明确证据者 → 结果是</a:t>
            </a:r>
            <a:r>
              <a:rPr sz="1160" b="1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下界</a:t>
            </a: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</a:t>
            </a:r>
            <a:endParaRPr sz="116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004-18"/>
          <p:cNvSpPr txBox="1"/>
          <p:nvPr/>
        </p:nvSpPr>
        <p:spPr>
          <a:xfrm>
            <a:off x="6313496" y="3866743"/>
            <a:ext cx="576309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el-1791698029007-23"/>
          <p:cNvSpPr txBox="1"/>
          <p:nvPr/>
        </p:nvSpPr>
        <p:spPr>
          <a:xfrm>
            <a:off x="6789627" y="3847698"/>
            <a:ext cx="539932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 attacks ← 攻击后取证报告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9007-24"/>
          <p:cNvSpPr txBox="1"/>
          <p:nvPr/>
        </p:nvSpPr>
        <p:spPr>
          <a:xfrm>
            <a:off x="6789627" y="4157183"/>
            <a:ext cx="4713696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40"/>
              </a:lnSpc>
            </a:pPr>
            <a:r>
              <a:rPr sz="116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取证结论确认成功失陷或造成重大降级、中断、数据泄漏。</a:t>
            </a:r>
            <a:endParaRPr sz="116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8993-9"/>
          <p:cNvSpPr txBox="1"/>
          <p:nvPr/>
        </p:nvSpPr>
        <p:spPr>
          <a:xfrm>
            <a:off x="6494426" y="4942799"/>
            <a:ext cx="4856536" cy="686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00"/>
              </a:lnSpc>
            </a:pPr>
            <a:r>
              <a:rPr sz="116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良性触发≠误报：规则正确命中事件，但业务背景允许忽略；FP是错误判为攻击。原因不明的23.72%单列unknown，不代表已确认安全。</a:t>
            </a:r>
            <a:endParaRPr sz="116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8979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2024，Table 1、§6.2、§6.4、Appendix C。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8979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el-1791698028976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019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l-1791698029047-9"/>
          <p:cNvPicPr/>
          <p:nvPr/>
        </p:nvPicPr>
        <p:blipFill>
          <a:blip r:embed="rId1"/>
          <a:stretch>
            <a:fillRect/>
          </a:stretch>
        </p:blipFill>
        <p:spPr>
          <a:xfrm>
            <a:off x="685629" y="1158451"/>
            <a:ext cx="10817695" cy="3542117"/>
          </a:xfrm>
          <a:prstGeom prst="rect">
            <a:avLst/>
          </a:prstGeom>
          <a:ln w="9523" algn="in">
            <a:solidFill>
              <a:srgbClr val="D8DDE3"/>
            </a:solidFill>
            <a:prstDash val="solid"/>
          </a:ln>
        </p:spPr>
      </p:pic>
      <p:cxnSp>
        <p:nvCxnSpPr>
          <p:cNvPr id="4" name="el-1791698029022-8"/>
          <p:cNvCxnSpPr/>
          <p:nvPr/>
        </p:nvCxnSpPr>
        <p:spPr>
          <a:xfrm>
            <a:off x="685629" y="514336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019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98029020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核心发现 / 3.0 案例研究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29020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案例：一次 Postgres 失陷，告警何时才响？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29048-10"/>
          <p:cNvSpPr txBox="1"/>
          <p:nvPr/>
        </p:nvSpPr>
        <p:spPr>
          <a:xfrm>
            <a:off x="685629" y="4700567"/>
            <a:ext cx="11498562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 Figure 2：攻击者时间线（上）与 SOC 分析师响应（下）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91698029049-11"/>
          <p:cNvSpPr txBox="1"/>
          <p:nvPr/>
        </p:nvSpPr>
        <p:spPr>
          <a:xfrm>
            <a:off x="685629" y="5281447"/>
            <a:ext cx="3734581" cy="3084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条</a:t>
            </a:r>
            <a:endParaRPr sz="20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049-12"/>
          <p:cNvSpPr txBox="1"/>
          <p:nvPr/>
        </p:nvSpPr>
        <p:spPr>
          <a:xfrm>
            <a:off x="685629" y="5627981"/>
            <a:ext cx="3390052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当次初始失陷阶段无网络告警：03:42经无口令账号登入，03:44下载3个文件（至少1个恶意）。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91698029050-13"/>
          <p:cNvSpPr txBox="1"/>
          <p:nvPr/>
        </p:nvSpPr>
        <p:spPr>
          <a:xfrm>
            <a:off x="4399450" y="5281447"/>
            <a:ext cx="4063682" cy="3084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1,101 条</a:t>
            </a:r>
            <a:endParaRPr sz="20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050-14"/>
          <p:cNvSpPr txBox="1"/>
          <p:nvPr/>
        </p:nvSpPr>
        <p:spPr>
          <a:xfrm>
            <a:off x="4399450" y="5627981"/>
            <a:ext cx="3390052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03:44—07:11共1,101条：主机D 1,100条，攻击者IP 1条。参照每主机4小时均值0.14条，偏离超过3个标准差。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050-15"/>
          <p:cNvSpPr txBox="1"/>
          <p:nvPr/>
        </p:nvSpPr>
        <p:spPr>
          <a:xfrm>
            <a:off x="8113271" y="5281447"/>
            <a:ext cx="3734581" cy="3084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2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个多月</a:t>
            </a:r>
            <a:endParaRPr sz="202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el-1791698029050-16"/>
          <p:cNvSpPr txBox="1"/>
          <p:nvPr/>
        </p:nvSpPr>
        <p:spPr>
          <a:xfrm>
            <a:off x="8113271" y="5627981"/>
            <a:ext cx="3390052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07:11发现并封禁；08:10确认恶意文件；12-23取得取证快照。该案例反映了攻击后调查的日历时间延迟。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021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2024，§4、Figure 2。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021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018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21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21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217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核心发现 / 3.1 告警体量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21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发现①：海量告警与自动化后的余量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el-1791698029217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2024，§6.1、Table 3、Figure 8。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921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el-179169802921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pic>
        <p:nvPicPr>
          <p:cNvPr id="23" name="v3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66969"/>
            <a:ext cx="10820400" cy="2971511"/>
          </a:xfrm>
          <a:prstGeom prst="rect">
            <a:avLst/>
          </a:prstGeom>
        </p:spPr>
      </p:pic>
      <p:sp>
        <p:nvSpPr>
          <p:cNvPr id="24" name="v3_P08 scale"/>
          <p:cNvSpPr>
            <a:spLocks noGrp="1"/>
          </p:cNvSpPr>
          <p:nvPr/>
        </p:nvSpPr>
        <p:spPr>
          <a:xfrm>
            <a:off x="685800" y="4305300"/>
            <a:ext cx="10820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两段纵轴不同。134,738与24,965是各时期日均值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v3_P08 peaks"/>
          <p:cNvSpPr>
            <a:spLocks noGrp="1"/>
          </p:cNvSpPr>
          <p:nvPr/>
        </p:nvSpPr>
        <p:spPr>
          <a:xfrm>
            <a:off x="685800" y="4524375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峰值背景：2018年Mirai变种扫描；2022年Log4j扫描及内部日志告警。</a:t>
            </a:r>
            <a:endParaRPr sz="112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v3_P08 divider"/>
          <p:cNvSpPr>
            <a:spLocks noGrp="1"/>
          </p:cNvSpPr>
          <p:nvPr/>
        </p:nvSpPr>
        <p:spPr>
          <a:xfrm>
            <a:off x="68580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7" name="v3_P08 stat0"/>
          <p:cNvSpPr>
            <a:spLocks noGrp="1"/>
          </p:cNvSpPr>
          <p:nvPr/>
        </p:nvSpPr>
        <p:spPr>
          <a:xfrm>
            <a:off x="68580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115,617,526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v3_P08 statdesc0"/>
          <p:cNvSpPr>
            <a:spLocks noGrp="1"/>
          </p:cNvSpPr>
          <p:nvPr/>
        </p:nvSpPr>
        <p:spPr>
          <a:xfrm>
            <a:off x="68580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全期1,329天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均86,996条/日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v3_P08 divider"/>
          <p:cNvSpPr>
            <a:spLocks noGrp="1"/>
          </p:cNvSpPr>
          <p:nvPr/>
        </p:nvSpPr>
        <p:spPr>
          <a:xfrm>
            <a:off x="344805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30" name="v3_P08 stat1"/>
          <p:cNvSpPr>
            <a:spLocks noGrp="1"/>
          </p:cNvSpPr>
          <p:nvPr/>
        </p:nvSpPr>
        <p:spPr>
          <a:xfrm>
            <a:off x="344805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134,738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v3_P08 statdesc1"/>
          <p:cNvSpPr>
            <a:spLocks noGrp="1"/>
          </p:cNvSpPr>
          <p:nvPr/>
        </p:nvSpPr>
        <p:spPr>
          <a:xfrm>
            <a:off x="344805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2018/04—2020/08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条/日（前期均值）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v3_P08 divider"/>
          <p:cNvSpPr>
            <a:spLocks noGrp="1"/>
          </p:cNvSpPr>
          <p:nvPr/>
        </p:nvSpPr>
        <p:spPr>
          <a:xfrm>
            <a:off x="621030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33" name="v3_P08 stat2"/>
          <p:cNvSpPr>
            <a:spLocks noGrp="1"/>
          </p:cNvSpPr>
          <p:nvPr/>
        </p:nvSpPr>
        <p:spPr>
          <a:xfrm>
            <a:off x="621030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24,965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v3_P08 statdesc2"/>
          <p:cNvSpPr>
            <a:spLocks noGrp="1"/>
          </p:cNvSpPr>
          <p:nvPr/>
        </p:nvSpPr>
        <p:spPr>
          <a:xfrm>
            <a:off x="621030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2020/12—2022/07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条/日（后期均值）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v3_P08 divider"/>
          <p:cNvSpPr>
            <a:spLocks noGrp="1"/>
          </p:cNvSpPr>
          <p:nvPr/>
        </p:nvSpPr>
        <p:spPr>
          <a:xfrm>
            <a:off x="8972550" y="4752975"/>
            <a:ext cx="251460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36" name="v3_P08 stat3"/>
          <p:cNvSpPr>
            <a:spLocks noGrp="1"/>
          </p:cNvSpPr>
          <p:nvPr/>
        </p:nvSpPr>
        <p:spPr>
          <a:xfrm>
            <a:off x="8972550" y="48577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44.9%</a:t>
            </a:r>
            <a:endParaRPr sz="23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v3_P08 statdesc3"/>
          <p:cNvSpPr>
            <a:spLocks noGrp="1"/>
          </p:cNvSpPr>
          <p:nvPr/>
        </p:nvSpPr>
        <p:spPr>
          <a:xfrm>
            <a:off x="8972550" y="5267325"/>
            <a:ext cx="2514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BHR自动处理比例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对应6,474,204条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v3_P08 surplus"/>
          <p:cNvSpPr>
            <a:spLocks noGrp="1"/>
          </p:cNvSpPr>
          <p:nvPr/>
        </p:nvSpPr>
        <p:spPr>
          <a:xfrm>
            <a:off x="685800" y="5848350"/>
            <a:ext cx="10820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自动处理后，仍约13,764条/日可能需进一步关注</a:t>
            </a:r>
            <a:endParaRPr sz="150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v3_P08 boundary"/>
          <p:cNvSpPr>
            <a:spLocks noGrp="1"/>
          </p:cNvSpPr>
          <p:nvPr/>
        </p:nvSpPr>
        <p:spPr>
          <a:xfrm>
            <a:off x="685800" y="6153150"/>
            <a:ext cx="1082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这是未自动处理余量，不等于逐条人工阅读量。下降与规则/BHR等并行变化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33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339-8"/>
          <p:cNvCxnSpPr/>
          <p:nvPr/>
        </p:nvCxnSpPr>
        <p:spPr>
          <a:xfrm>
            <a:off x="685629" y="995971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9169802933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91698029338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核心发现 / 3.2 告警四分类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9338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发现②：后期告警构成与良性触发来源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360-10"/>
          <p:cNvSpPr txBox="1"/>
          <p:nvPr/>
        </p:nvSpPr>
        <p:spPr>
          <a:xfrm>
            <a:off x="685629" y="1134049"/>
            <a:ext cx="4060712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0.01%</a:t>
            </a:r>
            <a:r>
              <a:rPr sz="8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 </a:t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1,114 条</a:t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362-14"/>
          <p:cNvSpPr txBox="1"/>
          <p:nvPr/>
        </p:nvSpPr>
        <p:spPr>
          <a:xfrm>
            <a:off x="685629" y="1472102"/>
            <a:ext cx="359010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 Attacks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363-15"/>
          <p:cNvSpPr txBox="1"/>
          <p:nvPr/>
        </p:nvSpPr>
        <p:spPr>
          <a:xfrm>
            <a:off x="685629" y="1905381"/>
            <a:ext cx="299113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与已知成功攻击相关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361-11"/>
          <p:cNvSpPr txBox="1"/>
          <p:nvPr/>
        </p:nvSpPr>
        <p:spPr>
          <a:xfrm>
            <a:off x="3693139" y="1134049"/>
            <a:ext cx="3946887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27.37%</a:t>
            </a:r>
            <a:r>
              <a:rPr sz="8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 </a:t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3,948,645 条</a:t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363-16"/>
          <p:cNvSpPr txBox="1"/>
          <p:nvPr/>
        </p:nvSpPr>
        <p:spPr>
          <a:xfrm>
            <a:off x="3693139" y="1472102"/>
            <a:ext cx="317460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 Attempts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9363-17"/>
          <p:cNvSpPr txBox="1"/>
          <p:nvPr/>
        </p:nvSpPr>
        <p:spPr>
          <a:xfrm>
            <a:off x="3693139" y="1905381"/>
            <a:ext cx="24202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发起过攻击但未得手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361-12"/>
          <p:cNvSpPr txBox="1"/>
          <p:nvPr/>
        </p:nvSpPr>
        <p:spPr>
          <a:xfrm>
            <a:off x="6129739" y="1134049"/>
            <a:ext cx="5089006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48.91%</a:t>
            </a:r>
            <a:r>
              <a:rPr sz="8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 </a:t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7,057,012 条</a:t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363-18"/>
          <p:cNvSpPr txBox="1"/>
          <p:nvPr/>
        </p:nvSpPr>
        <p:spPr>
          <a:xfrm>
            <a:off x="6129739" y="1472102"/>
            <a:ext cx="431672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Benign Triggers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363-19"/>
          <p:cNvSpPr txBox="1"/>
          <p:nvPr/>
        </p:nvSpPr>
        <p:spPr>
          <a:xfrm>
            <a:off x="6129739" y="1905381"/>
            <a:ext cx="35623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规则触发正确，业务背景可解释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91698029362-13"/>
          <p:cNvSpPr txBox="1"/>
          <p:nvPr/>
        </p:nvSpPr>
        <p:spPr>
          <a:xfrm>
            <a:off x="9708459" y="1134049"/>
            <a:ext cx="2480493" cy="29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23.72%</a:t>
            </a:r>
            <a:r>
              <a:rPr sz="840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 </a:t>
            </a:r>
            <a:r>
              <a:rPr sz="112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3,422,763 条</a:t>
            </a:r>
            <a:endParaRPr sz="112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364-20"/>
          <p:cNvSpPr txBox="1"/>
          <p:nvPr/>
        </p:nvSpPr>
        <p:spPr>
          <a:xfrm>
            <a:off x="9708459" y="1472102"/>
            <a:ext cx="227080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Unknown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364-21"/>
          <p:cNvSpPr txBox="1"/>
          <p:nvPr/>
        </p:nvSpPr>
        <p:spPr>
          <a:xfrm>
            <a:off x="9708459" y="1905381"/>
            <a:ext cx="193084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未判定，不等于安全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9169802933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2024，§6.2、§6.4、Tables 4、7。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933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09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el-1791698029336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6" name="el-1791698029366-23"/>
          <p:cNvSpPr/>
          <p:nvPr/>
        </p:nvSpPr>
        <p:spPr>
          <a:xfrm>
            <a:off x="685629" y="1810155"/>
            <a:ext cx="2855149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7" name="el-1791698029370-31"/>
          <p:cNvCxnSpPr/>
          <p:nvPr/>
        </p:nvCxnSpPr>
        <p:spPr>
          <a:xfrm>
            <a:off x="699838" y="1810155"/>
            <a:ext cx="914" cy="76181"/>
          </a:xfrm>
          <a:prstGeom prst="line">
            <a:avLst/>
          </a:prstGeom>
          <a:ln w="28419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l-1791698029367-24"/>
          <p:cNvSpPr/>
          <p:nvPr/>
        </p:nvSpPr>
        <p:spPr>
          <a:xfrm>
            <a:off x="3693139" y="1810155"/>
            <a:ext cx="2284238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-1791698029374-40"/>
          <p:cNvSpPr/>
          <p:nvPr/>
        </p:nvSpPr>
        <p:spPr>
          <a:xfrm>
            <a:off x="3693139" y="1810155"/>
            <a:ext cx="625071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>
              <a:alpha val="5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-1791698029367-25"/>
          <p:cNvSpPr/>
          <p:nvPr/>
        </p:nvSpPr>
        <p:spPr>
          <a:xfrm>
            <a:off x="6129739" y="1810155"/>
            <a:ext cx="3426357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-1791698029374-41"/>
          <p:cNvSpPr/>
          <p:nvPr/>
        </p:nvSpPr>
        <p:spPr>
          <a:xfrm>
            <a:off x="6129739" y="1810155"/>
            <a:ext cx="1675683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>
              <a:alpha val="7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-1791698029367-26"/>
          <p:cNvSpPr/>
          <p:nvPr/>
        </p:nvSpPr>
        <p:spPr>
          <a:xfrm>
            <a:off x="9708459" y="1810155"/>
            <a:ext cx="1794865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-1791698029375-42"/>
          <p:cNvSpPr/>
          <p:nvPr/>
        </p:nvSpPr>
        <p:spPr>
          <a:xfrm>
            <a:off x="9708459" y="1810155"/>
            <a:ext cx="425691" cy="761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8A93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v3_P09_C selected"/>
          <p:cNvSpPr>
            <a:spLocks noGrp="1"/>
          </p:cNvSpPr>
          <p:nvPr/>
        </p:nvSpPr>
        <p:spPr>
          <a:xfrm>
            <a:off x="685800" y="2505075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据论文Table 7摘编并重绘：主要来源（非全集，可重叠）</a:t>
            </a:r>
            <a:endParaRPr sz="13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v3_P09_C union"/>
          <p:cNvSpPr>
            <a:spLocks noGrp="1"/>
          </p:cNvSpPr>
          <p:nvPr/>
        </p:nvSpPr>
        <p:spPr>
          <a:xfrm>
            <a:off x="685800" y="5857875"/>
            <a:ext cx="6477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良性触发并集7,057,012条，选列项不能累加作为总量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v3_P09_C divider"/>
          <p:cNvSpPr>
            <a:spLocks noGrp="1"/>
          </p:cNvSpPr>
          <p:nvPr/>
        </p:nvSpPr>
        <p:spPr>
          <a:xfrm>
            <a:off x="7639050" y="2838450"/>
            <a:ext cx="386715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48" name="v3_P09_C head0"/>
          <p:cNvSpPr>
            <a:spLocks noGrp="1"/>
          </p:cNvSpPr>
          <p:nvPr/>
        </p:nvSpPr>
        <p:spPr>
          <a:xfrm>
            <a:off x="7639050" y="2962275"/>
            <a:ext cx="3867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业务背景决定解释</a:t>
            </a:r>
            <a:endParaRPr sz="150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v3_P09_C body0"/>
          <p:cNvSpPr>
            <a:spLocks noGrp="1"/>
          </p:cNvSpPr>
          <p:nvPr/>
        </p:nvSpPr>
        <p:spPr>
          <a:xfrm>
            <a:off x="7639050" y="3324225"/>
            <a:ext cx="3867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合规测试、合作域名及运行问题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均可能命中有效规则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v3_P09_C divider"/>
          <p:cNvSpPr>
            <a:spLocks noGrp="1"/>
          </p:cNvSpPr>
          <p:nvPr/>
        </p:nvSpPr>
        <p:spPr>
          <a:xfrm>
            <a:off x="7639050" y="3895725"/>
            <a:ext cx="386715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51" name="v3_P09_C head1"/>
          <p:cNvSpPr>
            <a:spLocks noGrp="1"/>
          </p:cNvSpPr>
          <p:nvPr/>
        </p:nvSpPr>
        <p:spPr>
          <a:xfrm>
            <a:off x="7639050" y="4019550"/>
            <a:ext cx="3867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外部测试高于日志故障</a:t>
            </a:r>
            <a:endParaRPr sz="150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v3_P09_C body1"/>
          <p:cNvSpPr>
            <a:spLocks noGrp="1"/>
          </p:cNvSpPr>
          <p:nvPr/>
        </p:nvSpPr>
        <p:spPr>
          <a:xfrm>
            <a:off x="7639050" y="4381500"/>
            <a:ext cx="3867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2,694,851 &gt; 2,553,794条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日志故障不是最大单项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v3_P09_C divider"/>
          <p:cNvSpPr>
            <a:spLocks noGrp="1"/>
          </p:cNvSpPr>
          <p:nvPr/>
        </p:nvSpPr>
        <p:spPr>
          <a:xfrm>
            <a:off x="7639050" y="4953000"/>
            <a:ext cx="3867150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54" name="v3_P09_C head2"/>
          <p:cNvSpPr>
            <a:spLocks noGrp="1"/>
          </p:cNvSpPr>
          <p:nvPr/>
        </p:nvSpPr>
        <p:spPr>
          <a:xfrm>
            <a:off x="7639050" y="5076825"/>
            <a:ext cx="3867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分类仍有边界</a:t>
            </a:r>
            <a:endParaRPr sz="150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v3_P09_C body2"/>
          <p:cNvSpPr>
            <a:spLocks noGrp="1"/>
          </p:cNvSpPr>
          <p:nvPr/>
        </p:nvSpPr>
        <p:spPr>
          <a:xfrm>
            <a:off x="7639050" y="5438775"/>
            <a:ext cx="3867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尝试与良性触发为保守识别下界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unknown不等于安全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v3_P09_denominator"/>
          <p:cNvSpPr txBox="1"/>
          <p:nvPr/>
        </p:nvSpPr>
        <p:spPr>
          <a:xfrm>
            <a:off x="685629" y="2143125"/>
            <a:ext cx="1082040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2020/12—2022/07 · 14,429,534条；0.01%为告警条数比例，非事件率或检测率。</a:t>
            </a:r>
            <a:endParaRPr sz="110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91803793299-32"/>
          <p:cNvSpPr txBox="1"/>
          <p:nvPr/>
        </p:nvSpPr>
        <p:spPr>
          <a:xfrm>
            <a:off x="21600" y="3182789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外部渗透测试／合规审计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91803793299-33"/>
          <p:cNvSpPr txBox="1"/>
          <p:nvPr/>
        </p:nvSpPr>
        <p:spPr>
          <a:xfrm>
            <a:off x="6586969" y="3166719"/>
            <a:ext cx="1374400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2,694,851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el-1791803793299-34"/>
          <p:cNvSpPr txBox="1"/>
          <p:nvPr/>
        </p:nvSpPr>
        <p:spPr>
          <a:xfrm>
            <a:off x="-184089" y="3461325"/>
            <a:ext cx="2371608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Zeek 日志记录故障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91803793299-35"/>
          <p:cNvSpPr txBox="1"/>
          <p:nvPr/>
        </p:nvSpPr>
        <p:spPr>
          <a:xfrm>
            <a:off x="6586969" y="3445256"/>
            <a:ext cx="1374400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2,553,794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el-1791803793299-36"/>
          <p:cNvSpPr txBox="1"/>
          <p:nvPr/>
        </p:nvSpPr>
        <p:spPr>
          <a:xfrm>
            <a:off x="-101813" y="3739862"/>
            <a:ext cx="2289333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外部域名指向本地 IP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91803793299-37"/>
          <p:cNvSpPr txBox="1"/>
          <p:nvPr/>
        </p:nvSpPr>
        <p:spPr>
          <a:xfrm>
            <a:off x="6586969" y="3723793"/>
            <a:ext cx="1374400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1,407,151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el-1791803793299-38"/>
          <p:cNvSpPr txBox="1"/>
          <p:nvPr/>
        </p:nvSpPr>
        <p:spPr>
          <a:xfrm>
            <a:off x="21600" y="4018399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内部合法扫描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91803793300-39"/>
          <p:cNvSpPr txBox="1"/>
          <p:nvPr/>
        </p:nvSpPr>
        <p:spPr>
          <a:xfrm>
            <a:off x="6586969" y="4002329"/>
            <a:ext cx="1292124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194,518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6" name="el-1791803793300-40"/>
          <p:cNvSpPr txBox="1"/>
          <p:nvPr/>
        </p:nvSpPr>
        <p:spPr>
          <a:xfrm>
            <a:off x="21600" y="4296935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非攻击类（新地址空间等）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91803793300-41"/>
          <p:cNvSpPr txBox="1"/>
          <p:nvPr/>
        </p:nvSpPr>
        <p:spPr>
          <a:xfrm>
            <a:off x="6586969" y="4280866"/>
            <a:ext cx="1292124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138,893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8" name="el-1791803793300-42"/>
          <p:cNvSpPr txBox="1"/>
          <p:nvPr/>
        </p:nvSpPr>
        <p:spPr>
          <a:xfrm>
            <a:off x="-142951" y="4575472"/>
            <a:ext cx="233047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 类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91803793300-43"/>
          <p:cNvSpPr txBox="1"/>
          <p:nvPr/>
        </p:nvSpPr>
        <p:spPr>
          <a:xfrm>
            <a:off x="6586969" y="4559402"/>
            <a:ext cx="1250986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55,253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0" name="el-1791803793300-44"/>
          <p:cNvSpPr txBox="1"/>
          <p:nvPr/>
        </p:nvSpPr>
        <p:spPr>
          <a:xfrm>
            <a:off x="-142951" y="4854008"/>
            <a:ext cx="233047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SSL 类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91803793301-45"/>
          <p:cNvSpPr txBox="1"/>
          <p:nvPr/>
        </p:nvSpPr>
        <p:spPr>
          <a:xfrm>
            <a:off x="6586969" y="4837939"/>
            <a:ext cx="1250986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39,818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2" name="el-1791803793301-46"/>
          <p:cNvSpPr txBox="1"/>
          <p:nvPr/>
        </p:nvSpPr>
        <p:spPr>
          <a:xfrm>
            <a:off x="21600" y="5132545"/>
            <a:ext cx="2165920" cy="1606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3A42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例外服务</a:t>
            </a:r>
            <a:endParaRPr sz="1010">
              <a:solidFill>
                <a:srgbClr val="3A42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91803793301-47"/>
          <p:cNvSpPr txBox="1"/>
          <p:nvPr/>
        </p:nvSpPr>
        <p:spPr>
          <a:xfrm>
            <a:off x="6586969" y="5116476"/>
            <a:ext cx="1127573" cy="1928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260</a:t>
            </a:r>
            <a:endParaRPr sz="101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el-1791803793289-21"/>
          <p:cNvSpPr txBox="1"/>
          <p:nvPr/>
        </p:nvSpPr>
        <p:spPr>
          <a:xfrm>
            <a:off x="111589" y="5395012"/>
            <a:ext cx="7929961" cy="1785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单位：条。仅列示 Table 7 中的 8 个主要来源（按条数排序），并非全部细项；条长以最大项（外部渗透测试）为基准。</a:t>
            </a:r>
            <a:endParaRPr sz="93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91803793304-49"/>
          <p:cNvSpPr/>
          <p:nvPr/>
        </p:nvSpPr>
        <p:spPr>
          <a:xfrm>
            <a:off x="2301791" y="317267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-1791803793312-61"/>
          <p:cNvSpPr/>
          <p:nvPr/>
        </p:nvSpPr>
        <p:spPr>
          <a:xfrm>
            <a:off x="2301791" y="317267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-1791803793305-50"/>
          <p:cNvSpPr/>
          <p:nvPr/>
        </p:nvSpPr>
        <p:spPr>
          <a:xfrm>
            <a:off x="2301791" y="3451208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-1791803793312-62"/>
          <p:cNvSpPr/>
          <p:nvPr/>
        </p:nvSpPr>
        <p:spPr>
          <a:xfrm>
            <a:off x="2301791" y="3451208"/>
            <a:ext cx="3953970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-1791803793305-51"/>
          <p:cNvSpPr/>
          <p:nvPr/>
        </p:nvSpPr>
        <p:spPr>
          <a:xfrm>
            <a:off x="2301791" y="3729744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-1791803793312-63"/>
          <p:cNvSpPr/>
          <p:nvPr/>
        </p:nvSpPr>
        <p:spPr>
          <a:xfrm>
            <a:off x="2301791" y="3729744"/>
            <a:ext cx="2177109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E5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-1791803793305-52"/>
          <p:cNvSpPr/>
          <p:nvPr/>
        </p:nvSpPr>
        <p:spPr>
          <a:xfrm>
            <a:off x="2301791" y="400828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-1791803793312-64"/>
          <p:cNvSpPr/>
          <p:nvPr/>
        </p:nvSpPr>
        <p:spPr>
          <a:xfrm>
            <a:off x="2301791" y="4008281"/>
            <a:ext cx="300260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-1791803793305-53"/>
          <p:cNvSpPr/>
          <p:nvPr/>
        </p:nvSpPr>
        <p:spPr>
          <a:xfrm>
            <a:off x="2301791" y="4286817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-1791803793313-65"/>
          <p:cNvSpPr/>
          <p:nvPr/>
        </p:nvSpPr>
        <p:spPr>
          <a:xfrm>
            <a:off x="2301791" y="4286817"/>
            <a:ext cx="216788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-1791803793306-54"/>
          <p:cNvSpPr/>
          <p:nvPr/>
        </p:nvSpPr>
        <p:spPr>
          <a:xfrm>
            <a:off x="2301791" y="4565354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-1791803793313-66"/>
          <p:cNvSpPr/>
          <p:nvPr/>
        </p:nvSpPr>
        <p:spPr>
          <a:xfrm>
            <a:off x="2301791" y="4565354"/>
            <a:ext cx="87489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-1791803793306-55"/>
          <p:cNvSpPr/>
          <p:nvPr/>
        </p:nvSpPr>
        <p:spPr>
          <a:xfrm>
            <a:off x="2301791" y="4843891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-1791803793313-67"/>
          <p:cNvSpPr/>
          <p:nvPr/>
        </p:nvSpPr>
        <p:spPr>
          <a:xfrm>
            <a:off x="2301791" y="4843891"/>
            <a:ext cx="62492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7E93B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-1791803793306-56"/>
          <p:cNvSpPr/>
          <p:nvPr/>
        </p:nvSpPr>
        <p:spPr>
          <a:xfrm>
            <a:off x="2301791" y="5122427"/>
            <a:ext cx="4170907" cy="180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0" name="el-1791803793310-60"/>
          <p:cNvCxnSpPr/>
          <p:nvPr/>
        </p:nvCxnSpPr>
        <p:spPr>
          <a:xfrm>
            <a:off x="2311313" y="5122427"/>
            <a:ext cx="914" cy="180930"/>
          </a:xfrm>
          <a:prstGeom prst="line">
            <a:avLst/>
          </a:prstGeom>
          <a:ln w="19045" cap="flat">
            <a:solidFill>
              <a:srgbClr val="7E93B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385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l-1791698029399-8"/>
          <p:cNvPicPr/>
          <p:nvPr/>
        </p:nvPicPr>
        <p:blipFill>
          <a:blip r:embed="rId1"/>
          <a:stretch>
            <a:fillRect/>
          </a:stretch>
        </p:blipFill>
        <p:spPr>
          <a:xfrm>
            <a:off x="685629" y="1867808"/>
            <a:ext cx="5694526" cy="3423834"/>
          </a:xfrm>
          <a:prstGeom prst="rect">
            <a:avLst/>
          </a:prstGeom>
          <a:ln w="9523" algn="in">
            <a:solidFill>
              <a:srgbClr val="D8DDE3"/>
            </a:solidFill>
            <a:prstDash val="solid"/>
          </a:ln>
        </p:spPr>
      </p:pic>
      <p:cxnSp>
        <p:nvCxnSpPr>
          <p:cNvPr id="4" name="el-1791698029401-13"/>
          <p:cNvCxnSpPr/>
          <p:nvPr/>
        </p:nvCxnSpPr>
        <p:spPr>
          <a:xfrm>
            <a:off x="6799150" y="1846609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401-14"/>
          <p:cNvCxnSpPr/>
          <p:nvPr/>
        </p:nvCxnSpPr>
        <p:spPr>
          <a:xfrm>
            <a:off x="9294076" y="1846609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401-15"/>
          <p:cNvCxnSpPr/>
          <p:nvPr/>
        </p:nvCxnSpPr>
        <p:spPr>
          <a:xfrm>
            <a:off x="6799150" y="3282590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9402-16"/>
          <p:cNvCxnSpPr/>
          <p:nvPr/>
        </p:nvCxnSpPr>
        <p:spPr>
          <a:xfrm>
            <a:off x="9294076" y="3282590"/>
            <a:ext cx="2209248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91698029400-10"/>
          <p:cNvSpPr/>
          <p:nvPr/>
        </p:nvSpPr>
        <p:spPr>
          <a:xfrm>
            <a:off x="6799150" y="4713810"/>
            <a:ext cx="4704174" cy="8737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91698029400-12"/>
          <p:cNvCxnSpPr/>
          <p:nvPr/>
        </p:nvCxnSpPr>
        <p:spPr>
          <a:xfrm>
            <a:off x="6813434" y="4713810"/>
            <a:ext cx="914" cy="873700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9169802938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91698029386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核心发现 / 3.3 攻击尝试画像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38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发现③：27.37% 的告警是"没得手的攻击"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l-1791698029400-11"/>
          <p:cNvSpPr txBox="1"/>
          <p:nvPr/>
        </p:nvSpPr>
        <p:spPr>
          <a:xfrm>
            <a:off x="685629" y="5339922"/>
            <a:ext cx="6790579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 Figure 9（攻击者活跃天数 CDF）/ Figure 10（受害者告警集中度）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403-19"/>
          <p:cNvSpPr txBox="1"/>
          <p:nvPr/>
        </p:nvSpPr>
        <p:spPr>
          <a:xfrm>
            <a:off x="6799150" y="1956119"/>
            <a:ext cx="2993150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721,169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29403-17"/>
          <p:cNvSpPr txBox="1"/>
          <p:nvPr/>
        </p:nvSpPr>
        <p:spPr>
          <a:xfrm>
            <a:off x="6799150" y="2287476"/>
            <a:ext cx="2209248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被封禁的外部攻击者 IP，来自 </a:t>
            </a: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223 个国家/地区</a:t>
            </a: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；Top5：中国、美国、印度、巴西、德国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404-20"/>
          <p:cNvSpPr txBox="1"/>
          <p:nvPr/>
        </p:nvSpPr>
        <p:spPr>
          <a:xfrm>
            <a:off x="9294076" y="1956119"/>
            <a:ext cx="2822504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96.7%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404-21"/>
          <p:cNvSpPr txBox="1"/>
          <p:nvPr/>
        </p:nvSpPr>
        <p:spPr>
          <a:xfrm>
            <a:off x="9294076" y="2287476"/>
            <a:ext cx="2209248" cy="857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前三类扫描合计96.7%（按条数计算）；其余为SSH口令猜测及可疑客户端。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404-22"/>
          <p:cNvSpPr txBox="1"/>
          <p:nvPr/>
        </p:nvSpPr>
        <p:spPr>
          <a:xfrm>
            <a:off x="6799150" y="3392100"/>
            <a:ext cx="2651859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75%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el-1791698029404-23"/>
          <p:cNvSpPr txBox="1"/>
          <p:nvPr/>
        </p:nvSpPr>
        <p:spPr>
          <a:xfrm>
            <a:off x="6799150" y="3723457"/>
            <a:ext cx="2209248" cy="857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约75%的来源IP仅活跃1日；最活跃者累计573日，后来确认是未记录的SOC测试扫描器。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404-24"/>
          <p:cNvSpPr txBox="1"/>
          <p:nvPr/>
        </p:nvSpPr>
        <p:spPr>
          <a:xfrm>
            <a:off x="9294076" y="3392100"/>
            <a:ext cx="2894876" cy="293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66.22%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403-18"/>
          <p:cNvSpPr txBox="1"/>
          <p:nvPr/>
        </p:nvSpPr>
        <p:spPr>
          <a:xfrm>
            <a:off x="9294076" y="3723457"/>
            <a:ext cx="2209248" cy="642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足够连接的子集中，连接间隔具有botnet启发式规律性（Ljung–Box，p&lt;0.05）；非独立真值。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400-9"/>
          <p:cNvSpPr txBox="1"/>
          <p:nvPr/>
        </p:nvSpPr>
        <p:spPr>
          <a:xfrm>
            <a:off x="6970557" y="4818558"/>
            <a:ext cx="4389927" cy="6642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受害端极不均衡：1,576个IP（2.3%）关联55%告警；部分高告警主机提供公网服务。每主机后期中位数203条，挑战per-host预测。</a:t>
            </a:r>
            <a:endParaRPr sz="11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387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2024，§6.3、Table 5、Figures 9–12。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387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el-179169802938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55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9169802955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91698029558-6"/>
          <p:cNvSpPr txBox="1"/>
          <p:nvPr/>
        </p:nvSpPr>
        <p:spPr>
          <a:xfrm>
            <a:off x="685629" y="155600"/>
            <a:ext cx="11503323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核心发现 / 3.4 告警 × 真实攻击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559-7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发现④：11起真实攻击的告警与发现渠道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el-1791698029559-9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2024，§7.1、Table 8。 中文表据Table 8摘编。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91698029559-10"/>
          <p:cNvSpPr txBox="1"/>
          <p:nvPr/>
        </p:nvSpPr>
        <p:spPr>
          <a:xfrm>
            <a:off x="11085667" y="6538135"/>
            <a:ext cx="8656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el-179169802955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graphicFrame>
        <p:nvGraphicFramePr>
          <p:cNvPr id="46" name="v3_"/>
          <p:cNvGraphicFramePr/>
          <p:nvPr/>
        </p:nvGraphicFramePr>
        <p:xfrm>
          <a:off x="685800" y="1295400"/>
          <a:ext cx="7677150" cy="4371975"/>
        </p:xfrm>
        <a:graphic>
          <a:graphicData uri="http://schemas.openxmlformats.org/drawingml/2006/table">
            <a:tbl>
              <a:tblPr/>
              <a:tblGrid>
                <a:gridCol w="2886075"/>
                <a:gridCol w="1943100"/>
                <a:gridCol w="1066800"/>
                <a:gridCol w="1781175"/>
              </a:tblGrid>
              <a:tr h="3905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事件ID及简写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告警数及状态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发现渠道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同日告警总量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T w="6668">
                      <a:solidFill>
                        <a:srgbClr val="D8DDE3"/>
                      </a:solidFill>
                      <a:prstDash val="solid"/>
                    </a:lnT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3E5C9A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01 账号失陷/凭证泄漏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2（与攻击无关）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55,499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02 账号失陷/扫描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163,878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03 账号失陷/数据泄漏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82,959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04 账号失陷/垃圾邮件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缺失*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97,545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05 0-day/扫描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124,154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06 账号失陷/出站SSH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缺失*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缺失*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07 账号失陷/钓鱼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134,847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08 账号失陷/挖矿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31,438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09 开放端口/反射DoS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17,946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Postgres失陷/扫描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1,101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17,839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61950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 内部账号挖矿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L w="6668">
                      <a:solidFill>
                        <a:srgbClr val="D8DDE3"/>
                      </a:solidFill>
                      <a:prstDash val="solid"/>
                    </a:lnL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Zeek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F24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24,921</a:t>
                      </a:r>
                      <a:endParaRPr sz="1350" b="0">
                        <a:solidFill>
                          <a:srgbClr val="1F24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47625" marB="47625" anchor="ctr">
                    <a:lnR w="6668">
                      <a:solidFill>
                        <a:srgbClr val="D8DDE3"/>
                      </a:solidFill>
                      <a:prstDash val="solid"/>
                    </a:lnR>
                    <a:lnB w="6668">
                      <a:solidFill>
                        <a:srgbClr val="D8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v3_P11 seven"/>
          <p:cNvSpPr>
            <a:spLocks noGrp="1"/>
          </p:cNvSpPr>
          <p:nvPr/>
        </p:nvSpPr>
        <p:spPr>
          <a:xfrm>
            <a:off x="8867775" y="1609725"/>
            <a:ext cx="2638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32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25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 起</a:t>
            </a:r>
            <a:endParaRPr sz="3225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v3_P11 seven-desc"/>
          <p:cNvSpPr>
            <a:spLocks noGrp="1"/>
          </p:cNvSpPr>
          <p:nvPr/>
        </p:nvSpPr>
        <p:spPr>
          <a:xfrm>
            <a:off x="8867775" y="2200275"/>
            <a:ext cx="2638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725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由Zeek发现</a:t>
            </a:r>
            <a:endParaRPr sz="1725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v3_P11 four"/>
          <p:cNvSpPr>
            <a:spLocks noGrp="1"/>
          </p:cNvSpPr>
          <p:nvPr/>
        </p:nvSpPr>
        <p:spPr>
          <a:xfrm>
            <a:off x="8867775" y="3209925"/>
            <a:ext cx="2638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>
              <a:defRPr sz="3225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225" b="1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起</a:t>
            </a:r>
            <a:endParaRPr sz="3225" b="1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v3_P11 four-desc"/>
          <p:cNvSpPr>
            <a:spLocks noGrp="1"/>
          </p:cNvSpPr>
          <p:nvPr/>
        </p:nvSpPr>
        <p:spPr>
          <a:xfrm>
            <a:off x="8867775" y="3810000"/>
            <a:ext cx="26384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由用户或其他渠道发现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v3_P11 interpretation"/>
          <p:cNvSpPr>
            <a:spLocks noGrp="1"/>
          </p:cNvSpPr>
          <p:nvPr/>
        </p:nvSpPr>
        <p:spPr>
          <a:xfrm>
            <a:off x="8867775" y="4629150"/>
            <a:ext cx="26384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网络告警多呈现失陷后的活跃行为。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ID8后新增挖矿规则，ID11触发；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少量数据窃取与钓鱼仍可能缺少信号。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v3_P11 missing"/>
          <p:cNvSpPr>
            <a:spLocks noGrp="1"/>
          </p:cNvSpPr>
          <p:nvPr/>
        </p:nvSpPr>
        <p:spPr>
          <a:xfrm>
            <a:off x="685800" y="576262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ID4/6日志缺失。ID6同日总量亦缺失。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ID1的2条告警与攻击无关。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v3_P11 blindspot"/>
          <p:cNvSpPr>
            <a:spLocks noGrp="1"/>
          </p:cNvSpPr>
          <p:nvPr/>
        </p:nvSpPr>
        <p:spPr>
          <a:xfrm>
            <a:off x="685800" y="6181725"/>
            <a:ext cx="1082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网络告警对初始失陷和失陷后的隐蔽活动存在盲区。</a:t>
            </a:r>
            <a:endParaRPr sz="127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704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70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706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· 核心发现 / 3.5 稀有模式信号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706-5"/>
          <p:cNvSpPr txBox="1"/>
          <p:nvPr/>
        </p:nvSpPr>
        <p:spPr>
          <a:xfrm>
            <a:off x="685629" y="369859"/>
            <a:ext cx="11328107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发现⑤：主机级告警特征的探索性线索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706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2024，§7.2、Figure 13。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707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el-179169802970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pic>
        <p:nvPicPr>
          <p:cNvPr id="20" name="v3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61065"/>
            <a:ext cx="10820400" cy="2869045"/>
          </a:xfrm>
          <a:prstGeom prst="rect">
            <a:avLst/>
          </a:prstGeom>
        </p:spPr>
      </p:pic>
      <p:sp>
        <p:nvSpPr>
          <p:cNvPr id="21" name="v3_P12 divider"/>
          <p:cNvSpPr>
            <a:spLocks noGrp="1"/>
          </p:cNvSpPr>
          <p:nvPr/>
        </p:nvSpPr>
        <p:spPr>
          <a:xfrm>
            <a:off x="685800" y="4448175"/>
            <a:ext cx="3438525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2" name="v3_P12 metric0"/>
          <p:cNvSpPr>
            <a:spLocks noGrp="1"/>
          </p:cNvSpPr>
          <p:nvPr/>
        </p:nvSpPr>
        <p:spPr>
          <a:xfrm>
            <a:off x="685800" y="4591050"/>
            <a:ext cx="3438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每日告警量熵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v3_P12 ids0"/>
          <p:cNvSpPr>
            <a:spLocks noGrp="1"/>
          </p:cNvSpPr>
          <p:nvPr/>
        </p:nvSpPr>
        <p:spPr>
          <a:xfrm>
            <a:off x="685800" y="4972050"/>
            <a:ext cx="3438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ID10离群</a:t>
            </a:r>
            <a:endParaRPr sz="195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v3_P12 divider"/>
          <p:cNvSpPr>
            <a:spLocks noGrp="1"/>
          </p:cNvSpPr>
          <p:nvPr/>
        </p:nvSpPr>
        <p:spPr>
          <a:xfrm>
            <a:off x="4371975" y="4448175"/>
            <a:ext cx="3438525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5" name="v3_P12 metric1"/>
          <p:cNvSpPr>
            <a:spLocks noGrp="1"/>
          </p:cNvSpPr>
          <p:nvPr/>
        </p:nvSpPr>
        <p:spPr>
          <a:xfrm>
            <a:off x="4371975" y="4591050"/>
            <a:ext cx="3438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(b) 告警序列熵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v3_P12 ids1"/>
          <p:cNvSpPr>
            <a:spLocks noGrp="1"/>
          </p:cNvSpPr>
          <p:nvPr/>
        </p:nvSpPr>
        <p:spPr>
          <a:xfrm>
            <a:off x="4371975" y="4972050"/>
            <a:ext cx="3438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ID10、11离群</a:t>
            </a:r>
            <a:endParaRPr sz="195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v3_P12 divider"/>
          <p:cNvSpPr>
            <a:spLocks noGrp="1"/>
          </p:cNvSpPr>
          <p:nvPr/>
        </p:nvSpPr>
        <p:spPr>
          <a:xfrm>
            <a:off x="8058150" y="4448175"/>
            <a:ext cx="3438525" cy="9525"/>
          </a:xfrm>
          <a:prstGeom prst="rect">
            <a:avLst/>
          </a:prstGeom>
          <a:solidFill>
            <a:srgbClr val="D8DDE3"/>
          </a:solidFill>
          <a:ln w="0">
            <a:noFill/>
          </a:ln>
        </p:spPr>
      </p:sp>
      <p:sp>
        <p:nvSpPr>
          <p:cNvPr id="28" name="v3_P12 metric2"/>
          <p:cNvSpPr>
            <a:spLocks noGrp="1"/>
          </p:cNvSpPr>
          <p:nvPr/>
        </p:nvSpPr>
        <p:spPr>
          <a:xfrm>
            <a:off x="8058150" y="4591050"/>
            <a:ext cx="3438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(c) 告警稀有度</a:t>
            </a:r>
            <a:endParaRPr sz="165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v3_P12 ids2"/>
          <p:cNvSpPr>
            <a:spLocks noGrp="1"/>
          </p:cNvSpPr>
          <p:nvPr/>
        </p:nvSpPr>
        <p:spPr>
          <a:xfrm>
            <a:off x="8058150" y="4972050"/>
            <a:ext cx="34385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ID9、10、11均离群</a:t>
            </a:r>
            <a:endParaRPr sz="1950" b="1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v3_P12 metric-description0"/>
          <p:cNvSpPr>
            <a:spLocks noGrp="1"/>
          </p:cNvSpPr>
          <p:nvPr/>
        </p:nvSpPr>
        <p:spPr>
          <a:xfrm>
            <a:off x="685800" y="5467350"/>
            <a:ext cx="34385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每日告警量的规律性；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使用主机此前10天告警。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v3_P12 metric-description1"/>
          <p:cNvSpPr>
            <a:spLocks noGrp="1"/>
          </p:cNvSpPr>
          <p:nvPr/>
        </p:nvSpPr>
        <p:spPr>
          <a:xfrm>
            <a:off x="4371975" y="5467350"/>
            <a:ext cx="34385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告警序列的规律性；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使用主机此前10天告警。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v3_P12 metric-description2"/>
          <p:cNvSpPr>
            <a:spLocks noGrp="1"/>
          </p:cNvSpPr>
          <p:nvPr/>
        </p:nvSpPr>
        <p:spPr>
          <a:xfrm>
            <a:off x="8058150" y="5467350"/>
            <a:ext cx="34385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告警类型按全网频率排名，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观察当日组合的罕见程度。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v3_P12 limit"/>
          <p:cNvSpPr>
            <a:spLocks noGrp="1"/>
          </p:cNvSpPr>
          <p:nvPr/>
        </p:nvSpPr>
        <p:spPr>
          <a:xfrm>
            <a:off x="685800" y="6076950"/>
            <a:ext cx="10820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4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仅3起案例的探索性观察，尚不能视为已验证的检测方法。</a:t>
            </a:r>
            <a:endParaRPr sz="1425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676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680-8"/>
          <p:cNvCxnSpPr/>
          <p:nvPr/>
        </p:nvCxnSpPr>
        <p:spPr>
          <a:xfrm>
            <a:off x="685629" y="2326757"/>
            <a:ext cx="5199350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9683-14"/>
          <p:cNvCxnSpPr/>
          <p:nvPr/>
        </p:nvCxnSpPr>
        <p:spPr>
          <a:xfrm>
            <a:off x="685629" y="3067140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91698029691-36"/>
          <p:cNvSpPr/>
          <p:nvPr/>
        </p:nvSpPr>
        <p:spPr>
          <a:xfrm>
            <a:off x="685629" y="2488641"/>
            <a:ext cx="413192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91698029683-15"/>
          <p:cNvCxnSpPr/>
          <p:nvPr/>
        </p:nvCxnSpPr>
        <p:spPr>
          <a:xfrm>
            <a:off x="685629" y="4017022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91698029691-38"/>
          <p:cNvSpPr/>
          <p:nvPr/>
        </p:nvSpPr>
        <p:spPr>
          <a:xfrm>
            <a:off x="685629" y="3224264"/>
            <a:ext cx="548443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91698029683-16"/>
          <p:cNvCxnSpPr/>
          <p:nvPr/>
        </p:nvCxnSpPr>
        <p:spPr>
          <a:xfrm>
            <a:off x="685629" y="4966903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692-40"/>
          <p:cNvSpPr/>
          <p:nvPr/>
        </p:nvSpPr>
        <p:spPr>
          <a:xfrm>
            <a:off x="685629" y="4174145"/>
            <a:ext cx="677743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91698029680-9"/>
          <p:cNvCxnSpPr/>
          <p:nvPr/>
        </p:nvCxnSpPr>
        <p:spPr>
          <a:xfrm>
            <a:off x="6303974" y="2326757"/>
            <a:ext cx="5199350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91698029683-17"/>
          <p:cNvCxnSpPr/>
          <p:nvPr/>
        </p:nvCxnSpPr>
        <p:spPr>
          <a:xfrm>
            <a:off x="6303974" y="3067140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91698029692-42"/>
          <p:cNvSpPr/>
          <p:nvPr/>
        </p:nvSpPr>
        <p:spPr>
          <a:xfrm>
            <a:off x="6303974" y="2488641"/>
            <a:ext cx="647687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91698029684-18"/>
          <p:cNvCxnSpPr/>
          <p:nvPr/>
        </p:nvCxnSpPr>
        <p:spPr>
          <a:xfrm>
            <a:off x="6303974" y="3802763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91698029693-44"/>
          <p:cNvSpPr/>
          <p:nvPr/>
        </p:nvSpPr>
        <p:spPr>
          <a:xfrm>
            <a:off x="6303974" y="3224264"/>
            <a:ext cx="647687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5" name="el-1791698029684-19"/>
          <p:cNvCxnSpPr/>
          <p:nvPr/>
        </p:nvCxnSpPr>
        <p:spPr>
          <a:xfrm>
            <a:off x="6303974" y="4538385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91698029693-46"/>
          <p:cNvSpPr/>
          <p:nvPr/>
        </p:nvSpPr>
        <p:spPr>
          <a:xfrm>
            <a:off x="6303974" y="3959886"/>
            <a:ext cx="647687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91698029684-20"/>
          <p:cNvCxnSpPr/>
          <p:nvPr/>
        </p:nvCxnSpPr>
        <p:spPr>
          <a:xfrm>
            <a:off x="6303974" y="5488266"/>
            <a:ext cx="5199350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91698029694-48"/>
          <p:cNvSpPr/>
          <p:nvPr/>
        </p:nvSpPr>
        <p:spPr>
          <a:xfrm>
            <a:off x="6303974" y="4695508"/>
            <a:ext cx="528654" cy="2166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D8DDE3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91698029676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91698029677-4"/>
          <p:cNvSpPr txBox="1"/>
          <p:nvPr/>
        </p:nvSpPr>
        <p:spPr>
          <a:xfrm>
            <a:off x="685629" y="155600"/>
            <a:ext cx="1146618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· 启示 / 4.1 运营侧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677-5"/>
          <p:cNvSpPr txBox="1"/>
          <p:nvPr/>
        </p:nvSpPr>
        <p:spPr>
          <a:xfrm>
            <a:off x="685629" y="369859"/>
            <a:ext cx="11503323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 SOC 运营：瓶颈仍在"人 + 数据可链接性"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el-1791698029681-10"/>
          <p:cNvSpPr txBox="1"/>
          <p:nvPr/>
        </p:nvSpPr>
        <p:spPr>
          <a:xfrm>
            <a:off x="685629" y="1936330"/>
            <a:ext cx="260919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瓶颈的证据（测量数据支持）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682-12"/>
          <p:cNvSpPr txBox="1"/>
          <p:nvPr/>
        </p:nvSpPr>
        <p:spPr>
          <a:xfrm>
            <a:off x="5292791" y="2012510"/>
            <a:ext cx="95614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§5 / §8.2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690-35"/>
          <p:cNvSpPr txBox="1"/>
          <p:nvPr/>
        </p:nvSpPr>
        <p:spPr>
          <a:xfrm>
            <a:off x="771332" y="2507687"/>
            <a:ext cx="525083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65%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91698029689-28"/>
          <p:cNvSpPr txBox="1"/>
          <p:nvPr/>
        </p:nvSpPr>
        <p:spPr>
          <a:xfrm>
            <a:off x="1194047" y="2450551"/>
            <a:ext cx="221848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单起攻击需要 ≥2 名分析师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91698029686-22"/>
          <p:cNvSpPr txBox="1"/>
          <p:nvPr/>
        </p:nvSpPr>
        <p:spPr>
          <a:xfrm>
            <a:off x="685629" y="2743371"/>
            <a:ext cx="598496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 份报告记录了人力投入，部分涉及 6–7 人（含 SOC 之外的网络管理员）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91698029691-37"/>
          <p:cNvSpPr txBox="1"/>
          <p:nvPr/>
        </p:nvSpPr>
        <p:spPr>
          <a:xfrm>
            <a:off x="771332" y="3243309"/>
            <a:ext cx="736515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53.2 天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91698029689-29"/>
          <p:cNvSpPr txBox="1"/>
          <p:nvPr/>
        </p:nvSpPr>
        <p:spPr>
          <a:xfrm>
            <a:off x="1329298" y="3186173"/>
            <a:ext cx="299879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攻击后调查平均历时（最长253天）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91698029686-23"/>
          <p:cNvSpPr txBox="1"/>
          <p:nvPr/>
        </p:nvSpPr>
        <p:spPr>
          <a:xfrm>
            <a:off x="685629" y="3478994"/>
            <a:ext cx="5199350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2016年后28起；53.2天为日历历时，非工时。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链接困难：告警聚合丢受害IP，连接日志只存2年。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91698029691-39"/>
          <p:cNvSpPr txBox="1"/>
          <p:nvPr/>
        </p:nvSpPr>
        <p:spPr>
          <a:xfrm>
            <a:off x="771332" y="4193190"/>
            <a:ext cx="101817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off-hours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91698029689-30"/>
          <p:cNvSpPr txBox="1"/>
          <p:nvPr/>
        </p:nvSpPr>
        <p:spPr>
          <a:xfrm>
            <a:off x="1458597" y="4136054"/>
            <a:ext cx="237970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发现时间与分析师工作时间对齐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91698029686-24"/>
          <p:cNvSpPr txBox="1"/>
          <p:nvPr/>
        </p:nvSpPr>
        <p:spPr>
          <a:xfrm>
            <a:off x="685629" y="4428875"/>
            <a:ext cx="5199350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发现时间呈现工作时段相关的分布：周日最少、周一最多，8–10点最多；该观察不能确定延迟的因果来源。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91698029681-11"/>
          <p:cNvSpPr txBox="1"/>
          <p:nvPr/>
        </p:nvSpPr>
        <p:spPr>
          <a:xfrm>
            <a:off x="6303974" y="1936330"/>
            <a:ext cx="1847388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作者建议与落地成果</a:t>
            </a:r>
            <a:endParaRPr sz="149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9682-13"/>
          <p:cNvSpPr txBox="1"/>
          <p:nvPr/>
        </p:nvSpPr>
        <p:spPr>
          <a:xfrm>
            <a:off x="10347367" y="2012510"/>
            <a:ext cx="179721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§7.3 / §8.2 / 附录 B</a:t>
            </a:r>
            <a:endParaRPr sz="97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91698029692-41"/>
          <p:cNvSpPr txBox="1"/>
          <p:nvPr/>
        </p:nvSpPr>
        <p:spPr>
          <a:xfrm>
            <a:off x="6389677" y="2507687"/>
            <a:ext cx="64530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数据支持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91698029689-31"/>
          <p:cNvSpPr txBox="1"/>
          <p:nvPr/>
        </p:nvSpPr>
        <p:spPr>
          <a:xfrm>
            <a:off x="7046887" y="2450551"/>
            <a:ext cx="237970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让日志可链接、可查询、存得久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91698029686-25"/>
          <p:cNvSpPr txBox="1"/>
          <p:nvPr/>
        </p:nvSpPr>
        <p:spPr>
          <a:xfrm>
            <a:off x="6303974" y="2743371"/>
            <a:ext cx="548217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关键元数据（如受害者 IP）写进告警；探索更省存储的日志表示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91698029692-43"/>
          <p:cNvSpPr txBox="1"/>
          <p:nvPr/>
        </p:nvSpPr>
        <p:spPr>
          <a:xfrm>
            <a:off x="6389677" y="3243309"/>
            <a:ext cx="64530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数据支持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91698029689-32"/>
          <p:cNvSpPr txBox="1"/>
          <p:nvPr/>
        </p:nvSpPr>
        <p:spPr>
          <a:xfrm>
            <a:off x="7046887" y="3186173"/>
            <a:ext cx="173216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用资产管理维护白名单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91698029686-26"/>
          <p:cNvSpPr txBox="1"/>
          <p:nvPr/>
        </p:nvSpPr>
        <p:spPr>
          <a:xfrm>
            <a:off x="6303974" y="3478994"/>
            <a:ext cx="588497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 SOC 自己的扫描器都没记录在案（活跃 573 天的 Top-1）；例外需文档化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91698029693-45"/>
          <p:cNvSpPr txBox="1"/>
          <p:nvPr/>
        </p:nvSpPr>
        <p:spPr>
          <a:xfrm>
            <a:off x="6389677" y="3978931"/>
            <a:ext cx="645306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前瞻讨论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91698029690-33"/>
          <p:cNvSpPr txBox="1"/>
          <p:nvPr/>
        </p:nvSpPr>
        <p:spPr>
          <a:xfrm>
            <a:off x="7046887" y="3921796"/>
            <a:ext cx="326452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off-hours 自动遏制 + LLM 辅助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91698029685-21"/>
          <p:cNvSpPr txBox="1"/>
          <p:nvPr/>
        </p:nvSpPr>
        <p:spPr>
          <a:xfrm>
            <a:off x="6303974" y="4214616"/>
            <a:ext cx="561929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自动先"遏制"再等人工调查；LLM 引导分析是作者展望，</a:t>
            </a: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论文无实验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91698029693-47"/>
          <p:cNvSpPr txBox="1"/>
          <p:nvPr/>
        </p:nvSpPr>
        <p:spPr>
          <a:xfrm>
            <a:off x="6389677" y="4714554"/>
            <a:ext cx="526273" cy="1785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30">
                <a:solidFill>
                  <a:srgbClr val="3E5C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已落地</a:t>
            </a:r>
            <a:endParaRPr sz="930">
              <a:solidFill>
                <a:srgbClr val="3E5C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91698029690-34"/>
          <p:cNvSpPr txBox="1"/>
          <p:nvPr/>
        </p:nvSpPr>
        <p:spPr>
          <a:xfrm>
            <a:off x="6927854" y="4657418"/>
            <a:ext cx="224605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 BHR 弱凭据封禁规则</a:t>
            </a:r>
            <a:endParaRPr sz="127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91698029687-27"/>
          <p:cNvSpPr txBox="1"/>
          <p:nvPr/>
        </p:nvSpPr>
        <p:spPr>
          <a:xfrm>
            <a:off x="6303974" y="4950238"/>
            <a:ext cx="5199350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源自 Postgres 案例：同一组 Base64 弱凭据全网匹配 3,377 条告警，该用户名在同类尝试中排第 3（仅次于 admin 与空串）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91698029678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2024，§5、§7.3、§8.2、Appendices A–B。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91698029678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el-1791698029675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824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828-8"/>
          <p:cNvCxnSpPr/>
          <p:nvPr/>
        </p:nvCxnSpPr>
        <p:spPr>
          <a:xfrm>
            <a:off x="685629" y="1499182"/>
            <a:ext cx="10817695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9828-9"/>
          <p:cNvCxnSpPr/>
          <p:nvPr/>
        </p:nvCxnSpPr>
        <p:spPr>
          <a:xfrm>
            <a:off x="685629" y="2367972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829-10"/>
          <p:cNvCxnSpPr/>
          <p:nvPr/>
        </p:nvCxnSpPr>
        <p:spPr>
          <a:xfrm>
            <a:off x="685629" y="3064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829-11"/>
          <p:cNvCxnSpPr/>
          <p:nvPr/>
        </p:nvCxnSpPr>
        <p:spPr>
          <a:xfrm>
            <a:off x="685629" y="3761845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9829-12"/>
          <p:cNvCxnSpPr/>
          <p:nvPr/>
        </p:nvCxnSpPr>
        <p:spPr>
          <a:xfrm>
            <a:off x="685629" y="4504610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829-13"/>
          <p:cNvCxnSpPr/>
          <p:nvPr/>
        </p:nvCxnSpPr>
        <p:spPr>
          <a:xfrm>
            <a:off x="685629" y="5247374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9169802982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91698029827-4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· 局限 / 4.2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9827-5"/>
          <p:cNvSpPr txBox="1"/>
          <p:nvPr/>
        </p:nvSpPr>
        <p:spPr>
          <a:xfrm>
            <a:off x="685629" y="369859"/>
            <a:ext cx="11084328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局限：这些数字能外推到哪里？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832-15"/>
          <p:cNvSpPr txBox="1"/>
          <p:nvPr/>
        </p:nvSpPr>
        <p:spPr>
          <a:xfrm>
            <a:off x="685629" y="1632498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l-1791698029832-16"/>
          <p:cNvSpPr txBox="1"/>
          <p:nvPr/>
        </p:nvSpPr>
        <p:spPr>
          <a:xfrm>
            <a:off x="1466483" y="1622976"/>
            <a:ext cx="113210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 SOC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837-32"/>
          <p:cNvSpPr txBox="1"/>
          <p:nvPr/>
        </p:nvSpPr>
        <p:spPr>
          <a:xfrm>
            <a:off x="1466483" y="1905232"/>
            <a:ext cx="2285429" cy="3341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1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SINGLE-SOC BIAS · 作者明确承认样本偏差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91698029832-17"/>
          <p:cNvSpPr txBox="1"/>
          <p:nvPr/>
        </p:nvSpPr>
        <p:spPr>
          <a:xfrm>
            <a:off x="3999500" y="1689634"/>
            <a:ext cx="750382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NCSA 是开放网络科研设施（9 人团队、17,000+ 用户），不代表政府/大企业 SOC；如 off-hours 延迟对跨时区轮班组织未必成立，对资源更少的 SOC 可能更严重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832-18"/>
          <p:cNvSpPr txBox="1"/>
          <p:nvPr/>
        </p:nvSpPr>
        <p:spPr>
          <a:xfrm>
            <a:off x="685629" y="2496527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29833-19"/>
          <p:cNvSpPr txBox="1"/>
          <p:nvPr/>
        </p:nvSpPr>
        <p:spPr>
          <a:xfrm>
            <a:off x="1466483" y="2487005"/>
            <a:ext cx="1755167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仅网络告警（下界）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91698029837-33"/>
          <p:cNvSpPr txBox="1"/>
          <p:nvPr/>
        </p:nvSpPr>
        <p:spPr>
          <a:xfrm>
            <a:off x="1466483" y="2769261"/>
            <a:ext cx="3362437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NETWORK-ONLY LOWER BOUND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833-20"/>
          <p:cNvSpPr txBox="1"/>
          <p:nvPr/>
        </p:nvSpPr>
        <p:spPr>
          <a:xfrm>
            <a:off x="3999500" y="2553663"/>
            <a:ext cx="81894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不含主机 IDS / EDR / 合作方告警；漏报结论只在网络监控语境内成立，不能推广为"SOC 检测能力"的整体结论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833-21"/>
          <p:cNvSpPr txBox="1"/>
          <p:nvPr/>
        </p:nvSpPr>
        <p:spPr>
          <a:xfrm>
            <a:off x="685629" y="3193464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833-22"/>
          <p:cNvSpPr txBox="1"/>
          <p:nvPr/>
        </p:nvSpPr>
        <p:spPr>
          <a:xfrm>
            <a:off x="1466483" y="3183941"/>
            <a:ext cx="850519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时间较旧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838-34"/>
          <p:cNvSpPr txBox="1"/>
          <p:nvPr/>
        </p:nvSpPr>
        <p:spPr>
          <a:xfrm>
            <a:off x="1466483" y="3466198"/>
            <a:ext cx="3085138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2018–2022，事件至 2022.03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833-23"/>
          <p:cNvSpPr txBox="1"/>
          <p:nvPr/>
        </p:nvSpPr>
        <p:spPr>
          <a:xfrm>
            <a:off x="3999500" y="3250600"/>
            <a:ext cx="8106605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规则集与威胁面持续演化（Mirai、Log4j 均为当时事件）；引用比例数字时要注意时效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833-24"/>
          <p:cNvSpPr txBox="1"/>
          <p:nvPr/>
        </p:nvSpPr>
        <p:spPr>
          <a:xfrm>
            <a:off x="685629" y="3890401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el-1791698029834-25"/>
          <p:cNvSpPr txBox="1"/>
          <p:nvPr/>
        </p:nvSpPr>
        <p:spPr>
          <a:xfrm>
            <a:off x="1466483" y="3903792"/>
            <a:ext cx="157423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归因保守且不完备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91698029838-35"/>
          <p:cNvSpPr txBox="1"/>
          <p:nvPr/>
        </p:nvSpPr>
        <p:spPr>
          <a:xfrm>
            <a:off x="1466483" y="4186048"/>
            <a:ext cx="3362437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CONSERVATIVE ATTRIBUTION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91698029831-14"/>
          <p:cNvSpPr txBox="1"/>
          <p:nvPr/>
        </p:nvSpPr>
        <p:spPr>
          <a:xfrm>
            <a:off x="3999500" y="3947536"/>
            <a:ext cx="750382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attempt 靠 BHR 高置信签名、benign trigger 靠 2 名分析师白名单——都是</a:t>
            </a:r>
            <a:r>
              <a:rPr sz="11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下界</a:t>
            </a: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估计；unknown 占 23.72%，部分标签可能互相混淆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91698029834-26"/>
          <p:cNvSpPr txBox="1"/>
          <p:nvPr/>
        </p:nvSpPr>
        <p:spPr>
          <a:xfrm>
            <a:off x="685629" y="4633165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el-1791698029834-27"/>
          <p:cNvSpPr txBox="1"/>
          <p:nvPr/>
        </p:nvSpPr>
        <p:spPr>
          <a:xfrm>
            <a:off x="1466483" y="4646556"/>
            <a:ext cx="122937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 ≠ 因果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91698029838-36"/>
          <p:cNvSpPr txBox="1"/>
          <p:nvPr/>
        </p:nvSpPr>
        <p:spPr>
          <a:xfrm>
            <a:off x="1466483" y="4928812"/>
            <a:ext cx="3164366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OBSERVATIONAL STUDY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91698029834-28"/>
          <p:cNvSpPr txBox="1"/>
          <p:nvPr/>
        </p:nvSpPr>
        <p:spPr>
          <a:xfrm>
            <a:off x="3999500" y="4690301"/>
            <a:ext cx="750382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作者原话：2011 年升级与攻击数量变化"should only be interpreted as a correlation"；off-hours 另有时区差的替代解释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91698029835-29"/>
          <p:cNvSpPr txBox="1"/>
          <p:nvPr/>
        </p:nvSpPr>
        <p:spPr>
          <a:xfrm>
            <a:off x="685629" y="5375929"/>
            <a:ext cx="805233" cy="2666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sz="209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el-1791698029835-30"/>
          <p:cNvSpPr txBox="1"/>
          <p:nvPr/>
        </p:nvSpPr>
        <p:spPr>
          <a:xfrm>
            <a:off x="1466483" y="5366407"/>
            <a:ext cx="139330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子分析样本量小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91698029838-37"/>
          <p:cNvSpPr txBox="1"/>
          <p:nvPr/>
        </p:nvSpPr>
        <p:spPr>
          <a:xfrm>
            <a:off x="1466483" y="5648663"/>
            <a:ext cx="3045524" cy="1670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spc="37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SMALL SUBSAMPLES</a:t>
            </a:r>
            <a:endParaRPr sz="970" spc="37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91698029835-31"/>
          <p:cNvSpPr txBox="1"/>
          <p:nvPr/>
        </p:nvSpPr>
        <p:spPr>
          <a:xfrm>
            <a:off x="3999500" y="5433065"/>
            <a:ext cx="81894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调查耗时仅 28 起、小时级分布 88/91 起、双时间戳 96 起，比例对抽样波动敏感；稀有模式结论仅基于 3 起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91698029827-6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2024，§3、§5、§8.3、Appendix A。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91698029827-7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el-179169802982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29944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29949-10"/>
          <p:cNvCxnSpPr/>
          <p:nvPr/>
        </p:nvCxnSpPr>
        <p:spPr>
          <a:xfrm>
            <a:off x="685629" y="2385232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29949-11"/>
          <p:cNvCxnSpPr/>
          <p:nvPr/>
        </p:nvCxnSpPr>
        <p:spPr>
          <a:xfrm>
            <a:off x="6313496" y="2385232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29949-12"/>
          <p:cNvCxnSpPr/>
          <p:nvPr/>
        </p:nvCxnSpPr>
        <p:spPr>
          <a:xfrm>
            <a:off x="685629" y="3470810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91698029950-13"/>
          <p:cNvCxnSpPr/>
          <p:nvPr/>
        </p:nvCxnSpPr>
        <p:spPr>
          <a:xfrm>
            <a:off x="6313496" y="3470810"/>
            <a:ext cx="5189827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91698029947-7"/>
          <p:cNvCxnSpPr/>
          <p:nvPr/>
        </p:nvCxnSpPr>
        <p:spPr>
          <a:xfrm>
            <a:off x="699912" y="4565911"/>
            <a:ext cx="914" cy="487737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91698029945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91698029947-5"/>
          <p:cNvSpPr txBox="1"/>
          <p:nvPr/>
        </p:nvSpPr>
        <p:spPr>
          <a:xfrm>
            <a:off x="685629" y="155600"/>
            <a:ext cx="1142047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 · 方法论借鉴 / 4.3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el-1791698029947-6"/>
          <p:cNvSpPr txBox="1"/>
          <p:nvPr/>
        </p:nvSpPr>
        <p:spPr>
          <a:xfrm>
            <a:off x="685629" y="369859"/>
            <a:ext cx="11084328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对我们的借鉴：测量研究怎么做才可信（方法论层面）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29951-14"/>
          <p:cNvSpPr txBox="1"/>
          <p:nvPr/>
        </p:nvSpPr>
        <p:spPr>
          <a:xfrm>
            <a:off x="685629" y="2518548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el-1791698029954-18"/>
          <p:cNvSpPr txBox="1"/>
          <p:nvPr/>
        </p:nvSpPr>
        <p:spPr>
          <a:xfrm>
            <a:off x="1142714" y="2518548"/>
            <a:ext cx="49751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双数据源 × 事件对齐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91698029954-19"/>
          <p:cNvSpPr txBox="1"/>
          <p:nvPr/>
        </p:nvSpPr>
        <p:spPr>
          <a:xfrm>
            <a:off x="1142714" y="2828033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自动日志描述规模，人工确认的事件提供证据；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按时间戳与IP对齐，评估系统输出与已知事件。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29951-15"/>
          <p:cNvSpPr txBox="1"/>
          <p:nvPr/>
        </p:nvSpPr>
        <p:spPr>
          <a:xfrm>
            <a:off x="6313496" y="2518548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29954-20"/>
          <p:cNvSpPr txBox="1"/>
          <p:nvPr/>
        </p:nvSpPr>
        <p:spPr>
          <a:xfrm>
            <a:off x="6770582" y="2518548"/>
            <a:ext cx="485939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标签语义先于模型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29954-21"/>
          <p:cNvSpPr txBox="1"/>
          <p:nvPr/>
        </p:nvSpPr>
        <p:spPr>
          <a:xfrm>
            <a:off x="6770582" y="2828033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attempt / benign trigger提示二分类会掩盖中间态；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测量前先定义标签、负样本和未判定样本。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91698029951-16"/>
          <p:cNvSpPr txBox="1"/>
          <p:nvPr/>
        </p:nvSpPr>
        <p:spPr>
          <a:xfrm>
            <a:off x="685629" y="3604127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29955-22"/>
          <p:cNvSpPr txBox="1"/>
          <p:nvPr/>
        </p:nvSpPr>
        <p:spPr>
          <a:xfrm>
            <a:off x="1142714" y="3604127"/>
            <a:ext cx="5033085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保守归因 + 显式下界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29955-23"/>
          <p:cNvSpPr txBox="1"/>
          <p:nvPr/>
        </p:nvSpPr>
        <p:spPr>
          <a:xfrm>
            <a:off x="1142714" y="3913612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判定不了的单独列 unknown（23.72%），保守判定并声明是下界——可信度来自对不确定性的显式呈现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29951-17"/>
          <p:cNvSpPr txBox="1"/>
          <p:nvPr/>
        </p:nvSpPr>
        <p:spPr>
          <a:xfrm>
            <a:off x="6313496" y="3604127"/>
            <a:ext cx="557264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94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29955-24"/>
          <p:cNvSpPr txBox="1"/>
          <p:nvPr/>
        </p:nvSpPr>
        <p:spPr>
          <a:xfrm>
            <a:off x="6770582" y="3604127"/>
            <a:ext cx="485939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相关性表述纪律</a:t>
            </a:r>
            <a:endParaRPr sz="1420" b="1">
              <a:solidFill>
                <a:srgbClr val="1F24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91698029955-25"/>
          <p:cNvSpPr txBox="1"/>
          <p:nvPr/>
        </p:nvSpPr>
        <p:spPr>
          <a:xfrm>
            <a:off x="6770582" y="3913612"/>
            <a:ext cx="4732742" cy="4428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35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所有观察性结论不写成因果；子样本量（28/88/96/3 起）主动交代——实证论文的表述边界范例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91698029946-4"/>
          <p:cNvSpPr txBox="1"/>
          <p:nvPr/>
        </p:nvSpPr>
        <p:spPr>
          <a:xfrm>
            <a:off x="885604" y="4680183"/>
            <a:ext cx="10928824" cy="2591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定位一句话：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它提供的是</a:t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运营侧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真实告警数据的量化图景，与相关的</a:t>
            </a: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算法侧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WF 防御研究互补看待；借鉴限于实证分析方法，不迁移其具体结论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91698029947-8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方法论归纳；据Yang et al., USENIX Security 2024，§3、§6.2、§7–8。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91698029947-9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el-1791698029944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91698030027-2"/>
          <p:cNvCxnSpPr/>
          <p:nvPr/>
        </p:nvCxnSpPr>
        <p:spPr>
          <a:xfrm>
            <a:off x="685629" y="986448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91698030033-12"/>
          <p:cNvCxnSpPr/>
          <p:nvPr/>
        </p:nvCxnSpPr>
        <p:spPr>
          <a:xfrm>
            <a:off x="685629" y="2284500"/>
            <a:ext cx="10817695" cy="914"/>
          </a:xfrm>
          <a:prstGeom prst="line">
            <a:avLst/>
          </a:prstGeom>
          <a:ln w="19045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91698030031-9"/>
          <p:cNvCxnSpPr/>
          <p:nvPr/>
        </p:nvCxnSpPr>
        <p:spPr>
          <a:xfrm>
            <a:off x="699912" y="4620220"/>
            <a:ext cx="914" cy="534159"/>
          </a:xfrm>
          <a:prstGeom prst="line">
            <a:avLst/>
          </a:prstGeom>
          <a:ln w="28568" cap="flat">
            <a:solidFill>
              <a:srgbClr val="3E5C9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91698030027-3"/>
          <p:cNvCxnSpPr/>
          <p:nvPr/>
        </p:nvCxnSpPr>
        <p:spPr>
          <a:xfrm>
            <a:off x="685629" y="6442909"/>
            <a:ext cx="10817695" cy="914"/>
          </a:xfrm>
          <a:prstGeom prst="line">
            <a:avLst/>
          </a:prstGeom>
          <a:ln w="9523" cap="flat">
            <a:solidFill>
              <a:srgbClr val="D8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91698030030-5"/>
          <p:cNvSpPr txBox="1"/>
          <p:nvPr/>
        </p:nvSpPr>
        <p:spPr>
          <a:xfrm>
            <a:off x="685629" y="155600"/>
            <a:ext cx="1132906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spc="150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TAKEAWAYS</a:t>
            </a:r>
            <a:endParaRPr sz="1120" spc="150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el-1791698030030-6"/>
          <p:cNvSpPr txBox="1"/>
          <p:nvPr/>
        </p:nvSpPr>
        <p:spPr>
          <a:xfrm>
            <a:off x="685629" y="369859"/>
            <a:ext cx="11328107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结语：把"告警过载"从抱怨变成数字</a:t>
            </a:r>
            <a:endParaRPr sz="299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el-1791698030035-13"/>
          <p:cNvSpPr txBox="1"/>
          <p:nvPr/>
        </p:nvSpPr>
        <p:spPr>
          <a:xfrm>
            <a:off x="685629" y="2484475"/>
            <a:ext cx="3329108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0.01%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el-1791698030035-14"/>
          <p:cNvSpPr txBox="1"/>
          <p:nvPr/>
        </p:nvSpPr>
        <p:spPr>
          <a:xfrm>
            <a:off x="685629" y="2929063"/>
            <a:ext cx="2518733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后期已知成功攻击相关告警占比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1,114 / 14,429,534；非检测率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91698030035-15"/>
          <p:cNvSpPr txBox="1"/>
          <p:nvPr/>
        </p:nvSpPr>
        <p:spPr>
          <a:xfrm>
            <a:off x="3451949" y="2484475"/>
            <a:ext cx="3441855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48.91%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el-1791698030035-16"/>
          <p:cNvSpPr txBox="1"/>
          <p:nvPr/>
        </p:nvSpPr>
        <p:spPr>
          <a:xfrm>
            <a:off x="3451949" y="2929063"/>
            <a:ext cx="2518733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良性触发占比——触发正确但业务可忽略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91698030036-17"/>
          <p:cNvSpPr txBox="1"/>
          <p:nvPr/>
        </p:nvSpPr>
        <p:spPr>
          <a:xfrm>
            <a:off x="6218270" y="2484475"/>
            <a:ext cx="3329108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44.9%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l-1791698030037-18"/>
          <p:cNvSpPr txBox="1"/>
          <p:nvPr/>
        </p:nvSpPr>
        <p:spPr>
          <a:xfrm>
            <a:off x="6218270" y="2929063"/>
            <a:ext cx="2518733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后期BHR自动封禁；余量约1.4万条/日可能需关注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91698030037-19"/>
          <p:cNvSpPr txBox="1"/>
          <p:nvPr/>
        </p:nvSpPr>
        <p:spPr>
          <a:xfrm>
            <a:off x="8984591" y="2484475"/>
            <a:ext cx="3204361" cy="387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7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/ 11</a:t>
            </a:r>
            <a:endParaRPr sz="2770" b="1">
              <a:solidFill>
                <a:srgbClr val="3E5C9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el-1791698030037-20"/>
          <p:cNvSpPr txBox="1"/>
          <p:nvPr/>
        </p:nvSpPr>
        <p:spPr>
          <a:xfrm>
            <a:off x="8984591" y="2929063"/>
            <a:ext cx="2518733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11起中4起由用户或其他渠道发现，不等同网络零告警</a:t>
            </a:r>
            <a:endParaRPr sz="112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91698030031-7"/>
          <p:cNvSpPr txBox="1"/>
          <p:nvPr/>
        </p:nvSpPr>
        <p:spPr>
          <a:xfrm>
            <a:off x="685629" y="3652782"/>
            <a:ext cx="6363460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告警的价值不取决于数量，而取决于</a:t>
            </a:r>
            <a:r>
              <a:rPr sz="1940" b="1">
                <a:solidFill>
                  <a:srgbClr val="3E5C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信噪比与可行动性</a:t>
            </a:r>
            <a:r>
              <a:rPr sz="19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；</a:t>
            </a:r>
            <a:endParaRPr sz="194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el-1791698030031-8"/>
          <p:cNvSpPr txBox="1"/>
          <p:nvPr/>
        </p:nvSpPr>
        <p:spPr>
          <a:xfrm>
            <a:off x="685629" y="4036513"/>
            <a:ext cx="8286351" cy="2761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1F24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运营瓶颈涉及人力与日志链接；标签定义和稀有模式提供探索机会。</a:t>
            </a:r>
            <a:endParaRPr sz="1940" b="1">
              <a:solidFill>
                <a:srgbClr val="1F24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el-1791698030030-4"/>
          <p:cNvSpPr txBox="1"/>
          <p:nvPr/>
        </p:nvSpPr>
        <p:spPr>
          <a:xfrm>
            <a:off x="885604" y="4620220"/>
            <a:ext cx="10617720" cy="534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90"/>
              </a:lnSpc>
            </a:pPr>
            <a:r>
              <a:rPr sz="1230" b="1">
                <a:solidFill>
                  <a:srgbClr val="1F24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对我们：</a:t>
            </a:r>
            <a:r>
              <a:rPr sz="123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借鉴它"双数据源 × 保守归因 × 相关性纪律"的测量方法；把它看作运营侧的量化图景，与算法侧的 WF 防御研究互补地看待。  谢谢大家，欢迎批评指正。</a:t>
            </a:r>
            <a:endParaRPr sz="123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91698030031-10"/>
          <p:cNvSpPr txBox="1"/>
          <p:nvPr/>
        </p:nvSpPr>
        <p:spPr>
          <a:xfrm>
            <a:off x="685629" y="6552419"/>
            <a:ext cx="1007745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8A9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来源：Yang et al., USENIX Security 2024，摘要、Tables 3、4、8、§7–8。</a:t>
            </a:r>
            <a:endParaRPr sz="1040">
              <a:solidFill>
                <a:srgbClr val="8A93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91698030031-11"/>
          <p:cNvSpPr txBox="1"/>
          <p:nvPr/>
        </p:nvSpPr>
        <p:spPr>
          <a:xfrm>
            <a:off x="11080013" y="6538135"/>
            <a:ext cx="87125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8A93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 / 16</a:t>
            </a:r>
            <a:endParaRPr sz="1190">
              <a:solidFill>
                <a:srgbClr val="8A93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el-1791698030027-1"/>
          <p:cNvSpPr/>
          <p:nvPr/>
        </p:nvSpPr>
        <p:spPr>
          <a:xfrm>
            <a:off x="0" y="857"/>
            <a:ext cx="12188952" cy="571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3E5C9A"/>
              </a:gs>
              <a:gs pos="40000">
                <a:srgbClr val="3E5C9A"/>
              </a:gs>
              <a:gs pos="40000">
                <a:srgbClr val="D8DDE3"/>
              </a:gs>
              <a:gs pos="100000">
                <a:srgbClr val="D8DDE3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2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3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4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5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6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7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8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ags/tag9.xml><?xml version="1.0" encoding="utf-8"?>
<p:tagLst xmlns:p="http://schemas.openxmlformats.org/presentationml/2006/main">
  <p:tag name="KSO_WM_DIAGRAM_VIRTUALLY_FRAME" val="{&quot;height&quot;:66.5,&quot;left&quot;:57.354960629921244,&quot;top&quot;:410.6810236220472,&quot;width&quot;:869.8325196850398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>
  <Application>Research presentation reference</Application>
  <Slides>16</Slides>
  <Notes>16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research presentation — anonymized reference</dc:title>
</cp:coreProperties>
</file>