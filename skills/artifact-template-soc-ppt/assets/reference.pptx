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82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/>
            </a:r>
            <a:endParaRPr lang="en-US" smtClean="0"/>
          </a:p>
          <a:p>
            <a:pPr lvl="1"/>
            <a:r>
              <a:rPr lang="en-US" smtClean="0"/>
              <a:t/>
            </a:r>
            <a:endParaRPr lang="en-US" smtClean="0"/>
          </a:p>
          <a:p>
            <a:pPr lvl="2"/>
            <a:r>
              <a:rPr lang="en-US" smtClean="0"/>
              <a:t/>
            </a:r>
            <a:endParaRPr lang="en-US" smtClean="0"/>
          </a:p>
          <a:p>
            <a:pPr lvl="3"/>
            <a:r>
              <a:rPr lang="en-US" smtClean="0"/>
              <a:t/>
            </a:r>
            <a:endParaRPr lang="en-US" smtClean="0"/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各位老师、同学，今天介绍的是［论文题名］。它关注［研究对象］中的［实际问题］。作者通过［总体思路］，希望回答［核心问题］。接下来先说明这个问题为什么值得研究，再看方法与证据。</a:t>
            </a:r>
          </a:p>
          <a:p>
            <a:r>
              <a:t>【使用与来源提示，不口播】</a:t>
            </a:r>
          </a:p>
          <a:p>
            <a:r>
              <a:t>本页是封面模板，括号内容与示意数字均待真实材料替换，不是实测结果。核对当前论文、听众、授权与目标时长后改写；这里的来源/制作说明不口播。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这项研究由［作者与团队］完成。这里最相关的背景是［研究基础或合作条件］：它让作者能够获得［数据或设施］，并理解［领域上下文］。这也解释了本文为什么能回答后面的问题。</a:t>
            </a:r>
          </a:p>
          <a:p>
            <a:r>
              <a:t>【使用与来源提示，不口播】</a:t>
            </a:r>
          </a:p>
          <a:p>
            <a:r>
              <a:t>本页是作者与团队模板，括号内容与示意数字均待真实材料替换，不是实测结果。核对当前论文、听众、授权与目标时长后改写；这里的来源/制作说明不口播。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接下来先看研究场景与问题，再介绍总体方法和数据，随后用核心证据回答问题，最后讨论启示与边界。</a:t>
            </a:r>
          </a:p>
          <a:p>
            <a:r>
              <a:t>【使用与来源提示，不口播】</a:t>
            </a:r>
          </a:p>
          <a:p>
            <a:r>
              <a:t>本页是目录模板，括号内容与示意数字均待真实材料替换，不是实测结果。核对当前论文、听众、授权与目标时长后改写；这里的来源/制作说明不口播。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先看［研究场景］。其中［对象］产生［可观察信息］，但仅靠这些信息还不能判断［目标问题］。因此本文提出三个问题：［问题一］、［问题二］和［问题三］。它们分别对应后面要建立的证据。</a:t>
            </a:r>
          </a:p>
          <a:p>
            <a:r>
              <a:t>【使用与来源提示，不口播】</a:t>
            </a:r>
          </a:p>
          <a:p>
            <a:r>
              <a:t>本页是研究场景与问题模板，括号内容与示意数字均待真实材料替换，不是实测结果。核对当前论文、听众、授权与目标时长后改写；这里的来源/制作说明不口播。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为回答这些问题，作者使用［数据源A］与［数据源B］。前者提供［信息A］，后者提供［信息B］。通过［处理与对齐条件］，作者得到［输出证据］。理解这条总体思路后，再看两组数据的规模与边界。</a:t>
            </a:r>
          </a:p>
          <a:p>
            <a:r>
              <a:t>【使用与来源提示，不口播】</a:t>
            </a:r>
          </a:p>
          <a:p>
            <a:r>
              <a:t>本页是总体方法与数据模板，括号内容与示意数字均待真实材料替换，不是实测结果。核对当前论文、听众、授权与目标时长后改写；这里的来源/制作说明不口播。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在统计之前，先把定义说清楚。［类别A］根据［判定条件A］识别，［类别B］根据［判定条件B］识别；证据不足的对象则按［处理规则］保留。这样，后面的数字才有一致的含义。</a:t>
            </a:r>
          </a:p>
          <a:p>
            <a:r>
              <a:t>【使用与来源提示，不口播】</a:t>
            </a:r>
          </a:p>
          <a:p>
            <a:r>
              <a:t>本页是定义与判定模板，括号内容与示意数字均待真实材料替换，不是实测结果。核对当前论文、听众、授权与目标时长后改写；这里的来源/制作说明不口播。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我们用［案例名称］把前面的方法串起来。最初处于［阶段A］，随后出现［阶段B的变化］，最后得到［阶段C的结果］。这说明［案例支持的认识］，但这一例还不能直接代表整体情况。</a:t>
            </a:r>
          </a:p>
          <a:p>
            <a:r>
              <a:t>【使用与来源提示，不口播】</a:t>
            </a:r>
          </a:p>
          <a:p>
            <a:r>
              <a:t>本页是案例过程模板，括号内容与示意数字均待真实材料替换，不是实测结果。核对当前论文、听众、授权与目标时长后改写；这里的来源/制作说明不口播。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先看整体规模与变化。［指标］在［时期A］为［数值A］，在［时期B］为［数值B］，统计单位和窗口分别是［口径］。结合［来源支持的解释］，这组证据回答了前面的［研究问题］。</a:t>
            </a:r>
          </a:p>
          <a:p>
            <a:r>
              <a:t>【使用与来源提示，不口播】</a:t>
            </a:r>
          </a:p>
          <a:p>
            <a:r>
              <a:t>本页是规模与变化模板，括号内容与示意数字均待真实材料替换，不是实测结果。核对当前论文、听众、授权与目标时长后改写；这里的来源/制作说明不口播。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再看分类与来源。［主要类别］之间的差异说明［发现］。下方来源图帮助解释这些差异来自哪里；其中［重叠或选列范围］需要保留。这些记录的多少与其业务含义要分开理解。</a:t>
            </a:r>
          </a:p>
          <a:p>
            <a:r>
              <a:t>【使用与来源提示，不口播】</a:t>
            </a:r>
          </a:p>
          <a:p>
            <a:r>
              <a:t>本页是分类与来源模板，括号内容与示意数字均待真实材料替换，不是实测结果。核对当前论文、听众、授权与目标时长后改写；这里的来源/制作说明不口播。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进一步看对象特征。图中［指标或位置］显示［主要差异］，而［特殊对象］说明分布并不均匀。这项分析支持［结论］，它的范围仍限于［样本与条件］。</a:t>
            </a:r>
          </a:p>
          <a:p>
            <a:r>
              <a:t>【使用与来源提示，不口播】</a:t>
            </a:r>
          </a:p>
          <a:p>
            <a:r>
              <a:t>本页是对象特征模板，括号内容与示意数字均待真实材料替换，不是实测结果。核对当前论文、听众、授权与目标时长后改写；这里的来源/制作说明不口播。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这张表把［系统输出］与［目标记录］放在一起比较。先区分［证据状态］和［发现渠道］，再看［关键行］。表中的缺失、零值与未判定各有含义，因此这里支持的是［结论范围］。</a:t>
            </a:r>
          </a:p>
          <a:p>
            <a:r>
              <a:t>【使用与来源提示，不口播】</a:t>
            </a:r>
          </a:p>
          <a:p>
            <a:r>
              <a:t>本页是证据表模板，括号内容与示意数字均待真实材料替换，不是实测结果。核对当前论文、听众、授权与目标时长后改写；这里的来源/制作说明不口播。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三个子图分别观察［指标A］、［指标B］和［指标C］。先看［定位词与发现］，再比较［另一子图的差异］。合起来，它们提供［认识］；样本规模与探索性边界是［限定］。</a:t>
            </a:r>
          </a:p>
          <a:p>
            <a:r>
              <a:t>【使用与来源提示，不口播】</a:t>
            </a:r>
          </a:p>
          <a:p>
            <a:r>
              <a:t>本页是并列证据模板，括号内容与示意数字均待真实材料替换，不是实测结果。核对当前论文、听众、授权与目标时长后改写；这里的来源/制作说明不口播。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把前面的发现放回实际场景，可以得到［证据支持的启示］。作者据此建议［建议］，其中［部分］已有实现证据，［部分］仍是展望或待验证方向。这里要把发现、建议和实现状态分开。</a:t>
            </a:r>
          </a:p>
          <a:p>
            <a:r>
              <a:t>【使用与来源提示，不口播】</a:t>
            </a:r>
          </a:p>
          <a:p>
            <a:r>
              <a:t>本页是研究启示模板，括号内容与示意数字均待真实材料替换，不是实测结果。核对当前论文、听众、授权与目标时长后改写；这里的来源/制作说明不口播。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这些结论仍有边界。最关键的是［场景覆盖］、［数据或定义限制］以及［样本与推断范围］。因此，本文能够说明［已支持范围］，但还不能回答［范围之外的问题］。</a:t>
            </a:r>
          </a:p>
          <a:p>
            <a:r>
              <a:t>【使用与来源提示，不口播】</a:t>
            </a:r>
          </a:p>
          <a:p>
            <a:r>
              <a:t>本页是研究局限模板，括号内容与示意数字均待真实材料替换，不是实测结果。核对当前论文、听众、授权与目标时长后改写；这里的来源/制作说明不口播。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对当前研究，可以借鉴的是［方法层面的做法］：先定义对象与指标，再建立互补证据，并明确不确定性。迁移时需要满足［条件］，不能把这篇论文的具体结果直接套到其他场景。</a:t>
            </a:r>
          </a:p>
          <a:p>
            <a:r>
              <a:t>【使用与来源提示，不口播】</a:t>
            </a:r>
          </a:p>
          <a:p>
            <a:r>
              <a:t>本页是方法论借鉴模板，括号内容与示意数字均待真实材料替换，不是实测结果。核对当前论文、听众、授权与目标时长后改写；这里的来源/制作说明不口播。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【口播模板】</a:t>
            </a:r>
          </a:p>
          <a:p>
            <a:r>
              <a:t>回到开场的三个问题，本文分别用［证据一］、［证据二］和［证据三］给出［对应回答］。最值得保留的认识是［核心结论］，适用范围是［关键边界］。谢谢大家，欢迎讨论。</a:t>
            </a:r>
          </a:p>
          <a:p>
            <a:r>
              <a:t>【使用与来源提示，不口播】</a:t>
            </a:r>
          </a:p>
          <a:p>
            <a:r>
              <a:t>本页是结语模板，括号内容与示意数字均待真实材料替换，不是实测结果。核对当前论文、听众、授权与目标时长后改写；这里的来源/制作说明不口播。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248-4"/>
          <p:cNvCxnSpPr/>
          <p:nvPr/>
        </p:nvCxnSpPr>
        <p:spPr>
          <a:xfrm>
            <a:off x="761809" y="3357878"/>
            <a:ext cx="914171" cy="914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91698028252-10"/>
          <p:cNvSpPr/>
          <p:nvPr/>
        </p:nvSpPr>
        <p:spPr>
          <a:xfrm>
            <a:off x="761809" y="4711727"/>
            <a:ext cx="5613435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91698028250-5"/>
          <p:cNvSpPr txBox="1"/>
          <p:nvPr/>
        </p:nvSpPr>
        <p:spPr>
          <a:xfrm>
            <a:off x="761809" y="610305"/>
            <a:ext cx="1142714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225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PRESENTATION · EDITABLE TEMPLATE</a:t>
            </a:r>
            <a:endParaRPr sz="1120" spc="225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el-1791698028251-6"/>
          <p:cNvSpPr txBox="1"/>
          <p:nvPr/>
        </p:nvSpPr>
        <p:spPr>
          <a:xfrm>
            <a:off x="761809" y="986448"/>
            <a:ext cx="11427143" cy="5427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3890" b="1" spc="22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论文英文题名</a:t>
            </a:r>
            <a:endParaRPr sz="3890" b="1" spc="22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el-1791698028251-7"/>
          <p:cNvSpPr txBox="1"/>
          <p:nvPr/>
        </p:nvSpPr>
        <p:spPr>
          <a:xfrm>
            <a:off x="761809" y="1600360"/>
            <a:ext cx="8729795" cy="5427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3890" b="1" spc="22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或研究主题副标题</a:t>
            </a:r>
            <a:endParaRPr sz="3890" b="1" spc="22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8254-11"/>
          <p:cNvSpPr txBox="1"/>
          <p:nvPr/>
        </p:nvSpPr>
        <p:spPr>
          <a:xfrm>
            <a:off x="761809" y="2376155"/>
            <a:ext cx="10665333" cy="7008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50"/>
              </a:lnSpc>
            </a:pPr>
            <a:r>
              <a:rPr sz="1720" spc="22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中文题名：研究对象、核心问题与范围</a:t>
            </a:r>
            <a:endParaRPr sz="1720" spc="22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91698028251-8"/>
          <p:cNvSpPr txBox="1"/>
          <p:nvPr/>
        </p:nvSpPr>
        <p:spPr>
          <a:xfrm>
            <a:off x="761809" y="3638795"/>
            <a:ext cx="10665333" cy="8253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60"/>
              </a:lnSpc>
            </a:pPr>
            <a:r>
              <a:rPr sz="127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论文作者：[填写作者]</a:t>
            </a:r>
            <a:endParaRPr sz="127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2160"/>
              </a:lnSpc>
            </a:pPr>
            <a:r>
              <a:rPr sz="127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研究机构：[填写机构]</a:t>
            </a:r>
            <a:endParaRPr sz="127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91698028251-9"/>
          <p:cNvSpPr txBox="1"/>
          <p:nvPr/>
        </p:nvSpPr>
        <p:spPr>
          <a:xfrm>
            <a:off x="942739" y="4797430"/>
            <a:ext cx="56854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spc="75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研究定位：[说明论文类型、核心贡献与证据范围]</a:t>
            </a:r>
            <a:endParaRPr sz="1190" spc="75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246-3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el-1791698028236-1"/>
          <p:cNvSpPr txBox="1"/>
          <p:nvPr/>
        </p:nvSpPr>
        <p:spPr>
          <a:xfrm>
            <a:off x="761809" y="5813523"/>
            <a:ext cx="3313604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汇报人：[填写姓名]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214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报告日期：[填写日期]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238-2"/>
          <p:cNvSpPr txBox="1"/>
          <p:nvPr/>
        </p:nvSpPr>
        <p:spPr>
          <a:xfrm>
            <a:off x="9705483" y="6147708"/>
            <a:ext cx="2483469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TALK · 01 / 16</a:t>
            </a:r>
            <a:endParaRPr sz="1120" spc="15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el-179169802841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417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0" name="Editable evidence placeholder"/>
          <p:cNvSpPr txBox="1"/>
          <p:nvPr/>
        </p:nvSpPr>
        <p:spPr>
          <a:xfrm>
            <a:off x="5485028" y="991210"/>
            <a:ext cx="6018295" cy="2361609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公开来源截图占位</a:t>
            </a:r>
          </a:p>
        </p:txBody>
      </p:sp>
      <p:sp>
        <p:nvSpPr>
          <p:cNvPr id="2001" name="Editable evidence placeholder"/>
          <p:cNvSpPr txBox="1"/>
          <p:nvPr/>
        </p:nvSpPr>
        <p:spPr>
          <a:xfrm>
            <a:off x="5485028" y="3790860"/>
            <a:ext cx="6018295" cy="2361609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公开来源截图占位</a:t>
            </a:r>
          </a:p>
        </p:txBody>
      </p:sp>
      <p:cxnSp>
        <p:nvCxnSpPr>
          <p:cNvPr id="5" name="el-1791698028418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28419-4"/>
          <p:cNvSpPr txBox="1"/>
          <p:nvPr/>
        </p:nvSpPr>
        <p:spPr>
          <a:xfrm>
            <a:off x="685629" y="155600"/>
            <a:ext cx="1150332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AUTHOR &amp; TEAM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8419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作者、团队与研究条件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8534-18"/>
          <p:cNvSpPr txBox="1"/>
          <p:nvPr/>
        </p:nvSpPr>
        <p:spPr>
          <a:xfrm>
            <a:off x="685629" y="115309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425-12"/>
          <p:cNvSpPr txBox="1"/>
          <p:nvPr/>
        </p:nvSpPr>
        <p:spPr>
          <a:xfrm>
            <a:off x="1009398" y="1153094"/>
            <a:ext cx="376885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作者与研究背景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422-8"/>
          <p:cNvSpPr txBox="1"/>
          <p:nvPr/>
        </p:nvSpPr>
        <p:spPr>
          <a:xfrm>
            <a:off x="1009398" y="1486386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填写与本次研究直接相关的作者背景。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91698028534-19"/>
          <p:cNvSpPr txBox="1"/>
          <p:nvPr/>
        </p:nvSpPr>
        <p:spPr>
          <a:xfrm>
            <a:off x="685629" y="213511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8425-13"/>
          <p:cNvSpPr txBox="1"/>
          <p:nvPr/>
        </p:nvSpPr>
        <p:spPr>
          <a:xfrm>
            <a:off x="1009398" y="2135114"/>
            <a:ext cx="517818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研究团队与方向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422-9"/>
          <p:cNvSpPr txBox="1"/>
          <p:nvPr/>
        </p:nvSpPr>
        <p:spPr>
          <a:xfrm>
            <a:off x="1009398" y="2468406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说明团队的研究基础，保留必要的公开来源。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8534-20"/>
          <p:cNvSpPr txBox="1"/>
          <p:nvPr/>
        </p:nvSpPr>
        <p:spPr>
          <a:xfrm>
            <a:off x="685629" y="311713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8425-14"/>
          <p:cNvSpPr txBox="1"/>
          <p:nvPr/>
        </p:nvSpPr>
        <p:spPr>
          <a:xfrm>
            <a:off x="1009398" y="3117134"/>
            <a:ext cx="287265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数据或实验合作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422-10"/>
          <p:cNvSpPr txBox="1"/>
          <p:nvPr/>
        </p:nvSpPr>
        <p:spPr>
          <a:xfrm>
            <a:off x="1009398" y="3450426"/>
            <a:ext cx="4056636" cy="7302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交代数据、设施或领域经验如何支持研究。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8534-21"/>
          <p:cNvSpPr txBox="1"/>
          <p:nvPr/>
        </p:nvSpPr>
        <p:spPr>
          <a:xfrm>
            <a:off x="685629" y="4342576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8425-15"/>
          <p:cNvSpPr txBox="1"/>
          <p:nvPr/>
        </p:nvSpPr>
        <p:spPr>
          <a:xfrm>
            <a:off x="1009398" y="4342576"/>
            <a:ext cx="160550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开放与使用范围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422-11"/>
          <p:cNvSpPr txBox="1"/>
          <p:nvPr/>
        </p:nvSpPr>
        <p:spPr>
          <a:xfrm>
            <a:off x="1009398" y="4675868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按实际材料说明可访问内容与使用条件。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8535-22"/>
          <p:cNvSpPr txBox="1"/>
          <p:nvPr/>
        </p:nvSpPr>
        <p:spPr>
          <a:xfrm>
            <a:off x="5485028" y="3352819"/>
            <a:ext cx="6703924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作者或书目证据位：按来源替换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535-23"/>
          <p:cNvSpPr txBox="1"/>
          <p:nvPr/>
        </p:nvSpPr>
        <p:spPr>
          <a:xfrm>
            <a:off x="5485028" y="6152469"/>
            <a:ext cx="6703924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机构或研究设施证据位：按来源替换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41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420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el-1791698028417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39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8400-8"/>
          <p:cNvCxnSpPr/>
          <p:nvPr/>
        </p:nvCxnSpPr>
        <p:spPr>
          <a:xfrm>
            <a:off x="685629" y="243745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8400-9"/>
          <p:cNvCxnSpPr/>
          <p:nvPr/>
        </p:nvCxnSpPr>
        <p:spPr>
          <a:xfrm>
            <a:off x="6323019" y="243745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8400-10"/>
          <p:cNvCxnSpPr/>
          <p:nvPr/>
        </p:nvCxnSpPr>
        <p:spPr>
          <a:xfrm>
            <a:off x="685629" y="392893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8400-11"/>
          <p:cNvCxnSpPr/>
          <p:nvPr/>
        </p:nvCxnSpPr>
        <p:spPr>
          <a:xfrm>
            <a:off x="6323019" y="392893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839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91698028398-4"/>
          <p:cNvSpPr txBox="1"/>
          <p:nvPr/>
        </p:nvSpPr>
        <p:spPr>
          <a:xfrm>
            <a:off x="685629" y="155600"/>
            <a:ext cx="1123764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OUTLINE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398-5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目录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8402-12"/>
          <p:cNvSpPr txBox="1"/>
          <p:nvPr/>
        </p:nvSpPr>
        <p:spPr>
          <a:xfrm>
            <a:off x="685629" y="261362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405-16"/>
          <p:cNvSpPr txBox="1"/>
          <p:nvPr/>
        </p:nvSpPr>
        <p:spPr>
          <a:xfrm>
            <a:off x="1256986" y="261362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背景与研究问题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405-17"/>
          <p:cNvSpPr txBox="1"/>
          <p:nvPr/>
        </p:nvSpPr>
        <p:spPr>
          <a:xfrm>
            <a:off x="1256986" y="301833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研究对象、关键概念与实际困难；说明为什么值得研究。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402-13"/>
          <p:cNvSpPr txBox="1"/>
          <p:nvPr/>
        </p:nvSpPr>
        <p:spPr>
          <a:xfrm>
            <a:off x="6323019" y="261362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8405-18"/>
          <p:cNvSpPr txBox="1"/>
          <p:nvPr/>
        </p:nvSpPr>
        <p:spPr>
          <a:xfrm>
            <a:off x="6894376" y="261362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总体方法与数据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8405-19"/>
          <p:cNvSpPr txBox="1"/>
          <p:nvPr/>
        </p:nvSpPr>
        <p:spPr>
          <a:xfrm>
            <a:off x="6894376" y="301833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先介绍总体思路，再展开数据、定义与处理依据。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402-14"/>
          <p:cNvSpPr txBox="1"/>
          <p:nvPr/>
        </p:nvSpPr>
        <p:spPr>
          <a:xfrm>
            <a:off x="685629" y="410510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8405-20"/>
          <p:cNvSpPr txBox="1"/>
          <p:nvPr/>
        </p:nvSpPr>
        <p:spPr>
          <a:xfrm>
            <a:off x="1256986" y="410510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核心证据与发现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8406-21"/>
          <p:cNvSpPr txBox="1"/>
          <p:nvPr/>
        </p:nvSpPr>
        <p:spPr>
          <a:xfrm>
            <a:off x="1256986" y="450981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案例、量化结果及比较；用证据回答研究问题。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402-15"/>
          <p:cNvSpPr txBox="1"/>
          <p:nvPr/>
        </p:nvSpPr>
        <p:spPr>
          <a:xfrm>
            <a:off x="6323019" y="410510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8406-22"/>
          <p:cNvSpPr txBox="1"/>
          <p:nvPr/>
        </p:nvSpPr>
        <p:spPr>
          <a:xfrm>
            <a:off x="6894376" y="4105106"/>
            <a:ext cx="5182780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启示、局限与结语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406-23"/>
          <p:cNvSpPr txBox="1"/>
          <p:nvPr/>
        </p:nvSpPr>
        <p:spPr>
          <a:xfrm>
            <a:off x="6894376" y="450981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区分发现、建议与个人归纳，说明结论适用范围。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39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399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el-179169802839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55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1698028564-12"/>
          <p:cNvCxnSpPr/>
          <p:nvPr>
            <p:custDataLst>
              <p:tags r:id="rId1"/>
            </p:custDataLst>
          </p:nvPr>
        </p:nvCxnSpPr>
        <p:spPr>
          <a:xfrm>
            <a:off x="728408" y="4920598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91698028564-13"/>
          <p:cNvCxnSpPr/>
          <p:nvPr>
            <p:custDataLst>
              <p:tags r:id="rId2"/>
            </p:custDataLst>
          </p:nvPr>
        </p:nvCxnSpPr>
        <p:spPr>
          <a:xfrm>
            <a:off x="4492986" y="4920690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91698028564-14"/>
          <p:cNvCxnSpPr/>
          <p:nvPr>
            <p:custDataLst>
              <p:tags r:id="rId3"/>
            </p:custDataLst>
          </p:nvPr>
        </p:nvCxnSpPr>
        <p:spPr>
          <a:xfrm>
            <a:off x="8047127" y="4954363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91698028556-3"/>
          <p:cNvCxnSpPr/>
          <p:nvPr/>
        </p:nvCxnSpPr>
        <p:spPr>
          <a:xfrm>
            <a:off x="685629" y="615588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91698028557-4"/>
          <p:cNvSpPr txBox="1"/>
          <p:nvPr/>
        </p:nvSpPr>
        <p:spPr>
          <a:xfrm>
            <a:off x="685629" y="155600"/>
            <a:ext cx="1114622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 · 背景与研究问题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el-179169802855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研究场景、关键概念与研究问题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el-1791698028565-15"/>
          <p:cNvSpPr txBox="1"/>
          <p:nvPr>
            <p:custDataLst>
              <p:tags r:id="rId4"/>
            </p:custDataLst>
          </p:nvPr>
        </p:nvSpPr>
        <p:spPr>
          <a:xfrm>
            <a:off x="859155" y="4920615"/>
            <a:ext cx="3301365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· 核心困难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8565-16"/>
          <p:cNvSpPr txBox="1"/>
          <p:nvPr>
            <p:custDataLst>
              <p:tags r:id="rId5"/>
            </p:custDataLst>
          </p:nvPr>
        </p:nvSpPr>
        <p:spPr>
          <a:xfrm>
            <a:off x="859155" y="5139055"/>
            <a:ext cx="3020695" cy="5314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填写场景中的实际困难，以及为什么现有证据不足。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91698028565-17"/>
          <p:cNvSpPr txBox="1"/>
          <p:nvPr>
            <p:custDataLst>
              <p:tags r:id="rId6"/>
            </p:custDataLst>
          </p:nvPr>
        </p:nvSpPr>
        <p:spPr>
          <a:xfrm>
            <a:off x="4624070" y="4934585"/>
            <a:ext cx="3026410" cy="177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· 量化对象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8566-18"/>
          <p:cNvSpPr txBox="1"/>
          <p:nvPr>
            <p:custDataLst>
              <p:tags r:id="rId7"/>
            </p:custDataLst>
          </p:nvPr>
        </p:nvSpPr>
        <p:spPr>
          <a:xfrm>
            <a:off x="4624070" y="5139055"/>
            <a:ext cx="2872740" cy="5314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填写需要测量或比较的对象、范围和统计单位。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8566-19"/>
          <p:cNvSpPr txBox="1"/>
          <p:nvPr>
            <p:custDataLst>
              <p:tags r:id="rId8"/>
            </p:custDataLst>
          </p:nvPr>
        </p:nvSpPr>
        <p:spPr>
          <a:xfrm>
            <a:off x="8178058" y="4954363"/>
            <a:ext cx="3597223" cy="191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 · 证据能力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8566-20"/>
          <p:cNvSpPr txBox="1"/>
          <p:nvPr>
            <p:custDataLst>
              <p:tags r:id="rId9"/>
            </p:custDataLst>
          </p:nvPr>
        </p:nvSpPr>
        <p:spPr>
          <a:xfrm>
            <a:off x="8178165" y="5172710"/>
            <a:ext cx="2901950" cy="4984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填写系统输出与目标事件之间需要验证的关系。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8563-11"/>
          <p:cNvSpPr txBox="1"/>
          <p:nvPr/>
        </p:nvSpPr>
        <p:spPr>
          <a:xfrm>
            <a:off x="685800" y="5699125"/>
            <a:ext cx="10494010" cy="2520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占位版式：问题与挑战可由RQ、场景和口播共同讲清。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855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855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el-179169802855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0" name="Evidence placeholder"/>
          <p:cNvSpPr txBox="1"/>
          <p:nvPr/>
        </p:nvSpPr>
        <p:spPr>
          <a:xfrm>
            <a:off x="614045" y="1222975"/>
            <a:ext cx="5410200" cy="2914720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证据图占位 · 按授权替换</a:t>
            </a:r>
          </a:p>
        </p:txBody>
      </p:sp>
      <p:sp>
        <p:nvSpPr>
          <p:cNvPr id="38" name="v3_P04 fig-cn"/>
          <p:cNvSpPr>
            <a:spLocks noGrp="1"/>
          </p:cNvSpPr>
          <p:nvPr/>
        </p:nvSpPr>
        <p:spPr>
          <a:xfrm>
            <a:off x="765810" y="4262755"/>
            <a:ext cx="556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证据位：按授权替换为场景图或原始图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el-1791698028567-21"/>
          <p:cNvCxnSpPr/>
          <p:nvPr/>
        </p:nvCxnSpPr>
        <p:spPr>
          <a:xfrm>
            <a:off x="6139009" y="140425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91698028569-25"/>
          <p:cNvSpPr/>
          <p:nvPr/>
        </p:nvSpPr>
        <p:spPr>
          <a:xfrm>
            <a:off x="6139009" y="1551851"/>
            <a:ext cx="496962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91698028567-22"/>
          <p:cNvCxnSpPr/>
          <p:nvPr/>
        </p:nvCxnSpPr>
        <p:spPr>
          <a:xfrm>
            <a:off x="6139009" y="248596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91698028569-27"/>
          <p:cNvSpPr/>
          <p:nvPr/>
        </p:nvSpPr>
        <p:spPr>
          <a:xfrm>
            <a:off x="6139009" y="2633561"/>
            <a:ext cx="569869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91698028568-23"/>
          <p:cNvCxnSpPr/>
          <p:nvPr/>
        </p:nvCxnSpPr>
        <p:spPr>
          <a:xfrm>
            <a:off x="6139009" y="356767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91698028570-29"/>
          <p:cNvSpPr/>
          <p:nvPr/>
        </p:nvSpPr>
        <p:spPr>
          <a:xfrm>
            <a:off x="6139009" y="3715271"/>
            <a:ext cx="615399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91698028569-24"/>
          <p:cNvSpPr txBox="1"/>
          <p:nvPr/>
        </p:nvSpPr>
        <p:spPr>
          <a:xfrm>
            <a:off x="6234235" y="1580419"/>
            <a:ext cx="638849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对象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el-1791698028572-30"/>
          <p:cNvSpPr txBox="1"/>
          <p:nvPr/>
        </p:nvSpPr>
        <p:spPr>
          <a:xfrm>
            <a:off x="6788150" y="1551940"/>
            <a:ext cx="49022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研究对象与范围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91698028572-31"/>
          <p:cNvSpPr txBox="1"/>
          <p:nvPr/>
        </p:nvSpPr>
        <p:spPr>
          <a:xfrm>
            <a:off x="6788332" y="1885143"/>
            <a:ext cx="4902512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说明研究场景、输入与可观察范围，保留不可见部分。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8569-26"/>
          <p:cNvSpPr txBox="1"/>
          <p:nvPr/>
        </p:nvSpPr>
        <p:spPr>
          <a:xfrm>
            <a:off x="6234235" y="2662129"/>
            <a:ext cx="75746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术语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el-1791698028572-32"/>
          <p:cNvSpPr txBox="1"/>
          <p:nvPr/>
        </p:nvSpPr>
        <p:spPr>
          <a:xfrm>
            <a:off x="6861175" y="2633345"/>
            <a:ext cx="4829175" cy="29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首次使用的关键概念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91698028572-33"/>
          <p:cNvSpPr txBox="1"/>
          <p:nvPr/>
        </p:nvSpPr>
        <p:spPr>
          <a:xfrm>
            <a:off x="6861240" y="2966853"/>
            <a:ext cx="4829604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用听众能理解的语言解释定义，避免仅展开缩写却不说明含义。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91698028570-28"/>
          <p:cNvSpPr txBox="1"/>
          <p:nvPr/>
        </p:nvSpPr>
        <p:spPr>
          <a:xfrm>
            <a:off x="6234235" y="3743839"/>
            <a:ext cx="89441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问题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el-1791698028572-34"/>
          <p:cNvSpPr txBox="1"/>
          <p:nvPr/>
        </p:nvSpPr>
        <p:spPr>
          <a:xfrm>
            <a:off x="6906895" y="3715385"/>
            <a:ext cx="4784090" cy="306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实际代价与研究缺口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91698028573-35"/>
          <p:cNvSpPr txBox="1"/>
          <p:nvPr/>
        </p:nvSpPr>
        <p:spPr>
          <a:xfrm>
            <a:off x="6906770" y="4048563"/>
            <a:ext cx="4784074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连接业务流程和研究问题，说明为什么值得进一步测量或设计。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852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8857-10"/>
          <p:cNvCxnSpPr/>
          <p:nvPr/>
        </p:nvCxnSpPr>
        <p:spPr>
          <a:xfrm>
            <a:off x="685629" y="1560335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8858-11"/>
          <p:cNvCxnSpPr/>
          <p:nvPr/>
        </p:nvCxnSpPr>
        <p:spPr>
          <a:xfrm>
            <a:off x="685629" y="3132460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8856-7"/>
          <p:cNvCxnSpPr/>
          <p:nvPr/>
        </p:nvCxnSpPr>
        <p:spPr>
          <a:xfrm>
            <a:off x="685629" y="5004547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8852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8855-5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· 总体方法与数据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8856-6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双数据源与互补证据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859-12"/>
          <p:cNvSpPr txBox="1"/>
          <p:nvPr/>
        </p:nvSpPr>
        <p:spPr>
          <a:xfrm>
            <a:off x="685629" y="1717458"/>
            <a:ext cx="1649329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数据源A</a:t>
            </a:r>
            <a:endParaRPr sz="15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860-14"/>
          <p:cNvSpPr txBox="1"/>
          <p:nvPr/>
        </p:nvSpPr>
        <p:spPr>
          <a:xfrm>
            <a:off x="685629" y="2093602"/>
            <a:ext cx="3850566" cy="372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5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规模A</a:t>
            </a:r>
            <a:r>
              <a:rPr sz="14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endParaRPr sz="14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868-24"/>
          <p:cNvSpPr txBox="1"/>
          <p:nvPr/>
        </p:nvSpPr>
        <p:spPr>
          <a:xfrm>
            <a:off x="685629" y="2523012"/>
            <a:ext cx="2380655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填写单位与时间窗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862-16"/>
          <p:cNvSpPr txBox="1"/>
          <p:nvPr/>
        </p:nvSpPr>
        <p:spPr>
          <a:xfrm>
            <a:off x="3313871" y="1717458"/>
            <a:ext cx="419366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字段：输入及可观察信息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863-17"/>
          <p:cNvSpPr txBox="1"/>
          <p:nvPr/>
        </p:nvSpPr>
        <p:spPr>
          <a:xfrm>
            <a:off x="7570482" y="1717458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处理：如何由数据得到证据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8863-18"/>
          <p:cNvSpPr txBox="1"/>
          <p:nvPr/>
        </p:nvSpPr>
        <p:spPr>
          <a:xfrm>
            <a:off x="3313871" y="2265009"/>
            <a:ext cx="459590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用途：主要回答哪个研究问题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8864-19"/>
          <p:cNvSpPr txBox="1"/>
          <p:nvPr/>
        </p:nvSpPr>
        <p:spPr>
          <a:xfrm>
            <a:off x="7570482" y="2265009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边界：缺失信息与覆盖范围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859-13"/>
          <p:cNvSpPr txBox="1"/>
          <p:nvPr/>
        </p:nvSpPr>
        <p:spPr>
          <a:xfrm>
            <a:off x="685629" y="3289583"/>
            <a:ext cx="1828492" cy="5856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355"/>
              </a:lnSpc>
            </a:pPr>
            <a:r>
              <a:rPr sz="15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数据源B</a:t>
            </a:r>
            <a:endParaRPr sz="15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8860-15"/>
          <p:cNvSpPr txBox="1"/>
          <p:nvPr/>
        </p:nvSpPr>
        <p:spPr>
          <a:xfrm>
            <a:off x="685629" y="3965689"/>
            <a:ext cx="3643354" cy="372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5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规模B</a:t>
            </a:r>
            <a:r>
              <a:rPr sz="14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endParaRPr sz="14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8868-25"/>
          <p:cNvSpPr txBox="1"/>
          <p:nvPr/>
        </p:nvSpPr>
        <p:spPr>
          <a:xfrm>
            <a:off x="685629" y="4395099"/>
            <a:ext cx="2380655" cy="4142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填写来源与时间范围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864-20"/>
          <p:cNvSpPr txBox="1"/>
          <p:nvPr/>
        </p:nvSpPr>
        <p:spPr>
          <a:xfrm>
            <a:off x="3313871" y="328958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定义：记录什么对象或事件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8865-21"/>
          <p:cNvSpPr txBox="1"/>
          <p:nvPr/>
        </p:nvSpPr>
        <p:spPr>
          <a:xfrm>
            <a:off x="7570482" y="3289583"/>
            <a:ext cx="461847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对齐：连接两来源的条件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865-22"/>
          <p:cNvSpPr txBox="1"/>
          <p:nvPr/>
        </p:nvSpPr>
        <p:spPr>
          <a:xfrm>
            <a:off x="3313871" y="383713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形态：结构与关键字段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866-23"/>
          <p:cNvSpPr txBox="1"/>
          <p:nvPr/>
        </p:nvSpPr>
        <p:spPr>
          <a:xfrm>
            <a:off x="7570482" y="383713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标注：依据、人员或过程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855-4"/>
          <p:cNvSpPr txBox="1"/>
          <p:nvPr/>
        </p:nvSpPr>
        <p:spPr>
          <a:xfrm>
            <a:off x="685629" y="5142625"/>
            <a:ext cx="10817695" cy="731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1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先用口播概述输入、关键处理、输出与RQ的对应，再展开数据细节。保留不可见信息和选择条件。</a:t>
            </a:r>
            <a:endParaRPr sz="11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8856-8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8856-9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el-1791698028852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97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" name="Evidence placeholder"/>
          <p:cNvSpPr txBox="1"/>
          <p:nvPr/>
        </p:nvSpPr>
        <p:spPr>
          <a:xfrm>
            <a:off x="685629" y="2049565"/>
            <a:ext cx="5170782" cy="3024907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证据图占位 · 按授权替换</a:t>
            </a:r>
          </a:p>
        </p:txBody>
      </p:sp>
      <p:cxnSp>
        <p:nvCxnSpPr>
          <p:cNvPr id="4" name="el-1791698029002-13"/>
          <p:cNvCxnSpPr/>
          <p:nvPr/>
        </p:nvCxnSpPr>
        <p:spPr>
          <a:xfrm>
            <a:off x="6313496" y="1690824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002-14"/>
          <p:cNvCxnSpPr/>
          <p:nvPr/>
        </p:nvCxnSpPr>
        <p:spPr>
          <a:xfrm>
            <a:off x="6313496" y="2700222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003-15"/>
          <p:cNvCxnSpPr/>
          <p:nvPr/>
        </p:nvCxnSpPr>
        <p:spPr>
          <a:xfrm>
            <a:off x="6313496" y="3709620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8994-10"/>
          <p:cNvSpPr/>
          <p:nvPr/>
        </p:nvSpPr>
        <p:spPr>
          <a:xfrm>
            <a:off x="6313496" y="4828527"/>
            <a:ext cx="5189827" cy="914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91698029001-12"/>
          <p:cNvCxnSpPr/>
          <p:nvPr/>
        </p:nvCxnSpPr>
        <p:spPr>
          <a:xfrm>
            <a:off x="6327780" y="4828527"/>
            <a:ext cx="914" cy="914618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897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8978-4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· 定义与判定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979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标签语义与判定依据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8994-11"/>
          <p:cNvSpPr txBox="1"/>
          <p:nvPr/>
        </p:nvSpPr>
        <p:spPr>
          <a:xfrm>
            <a:off x="685629" y="5457467"/>
            <a:ext cx="6068765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证据位：替换为可追溯定义表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004-16"/>
          <p:cNvSpPr txBox="1"/>
          <p:nvPr/>
        </p:nvSpPr>
        <p:spPr>
          <a:xfrm>
            <a:off x="6313496" y="1847948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9006-20"/>
          <p:cNvSpPr txBox="1"/>
          <p:nvPr/>
        </p:nvSpPr>
        <p:spPr>
          <a:xfrm>
            <a:off x="6789627" y="1828902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类别A的判定依据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006-21"/>
          <p:cNvSpPr txBox="1"/>
          <p:nvPr/>
        </p:nvSpPr>
        <p:spPr>
          <a:xfrm>
            <a:off x="6789627" y="2138388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填写明确的证据条件，说明为何此标签能回答前面的研究问题。</a:t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004-17"/>
          <p:cNvSpPr txBox="1"/>
          <p:nvPr/>
        </p:nvSpPr>
        <p:spPr>
          <a:xfrm>
            <a:off x="6313496" y="2857345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007-22"/>
          <p:cNvSpPr txBox="1"/>
          <p:nvPr/>
        </p:nvSpPr>
        <p:spPr>
          <a:xfrm>
            <a:off x="6789627" y="2838300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类别B的判定依据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006-19"/>
          <p:cNvSpPr txBox="1"/>
          <p:nvPr/>
        </p:nvSpPr>
        <p:spPr>
          <a:xfrm>
            <a:off x="6789627" y="3147785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填写与类别A的区别，保留保守识别或不完备的范围。</a:t>
            </a:r>
            <a:r>
              <a:rPr sz="116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004-18"/>
          <p:cNvSpPr txBox="1"/>
          <p:nvPr/>
        </p:nvSpPr>
        <p:spPr>
          <a:xfrm>
            <a:off x="6313496" y="3866743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9007-23"/>
          <p:cNvSpPr txBox="1"/>
          <p:nvPr/>
        </p:nvSpPr>
        <p:spPr>
          <a:xfrm>
            <a:off x="6789627" y="3847698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类别C与未判定状态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007-24"/>
          <p:cNvSpPr txBox="1"/>
          <p:nvPr/>
        </p:nvSpPr>
        <p:spPr>
          <a:xfrm>
            <a:off x="6789627" y="4157183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解释如何处理证据不足，不强行补成完整标签。</a:t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993-9"/>
          <p:cNvSpPr txBox="1"/>
          <p:nvPr/>
        </p:nvSpPr>
        <p:spPr>
          <a:xfrm>
            <a:off x="6494426" y="4942799"/>
            <a:ext cx="4856536" cy="686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00"/>
              </a:lnSpc>
            </a:pPr>
            <a:r>
              <a:rPr sz="116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关键限定：未知、缺失和零值各有语义。按实际材料说明，不能直接搬用本模板。</a:t>
            </a:r>
            <a:endParaRPr sz="116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97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8979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8976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019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0" name="Editable evidence placeholder"/>
          <p:cNvSpPr txBox="1"/>
          <p:nvPr/>
        </p:nvSpPr>
        <p:spPr>
          <a:xfrm>
            <a:off x="685629" y="1158451"/>
            <a:ext cx="10817695" cy="3542117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研究证据图占位</a:t>
            </a:r>
          </a:p>
        </p:txBody>
      </p:sp>
      <p:cxnSp>
        <p:nvCxnSpPr>
          <p:cNvPr id="4" name="el-1791698029022-8"/>
          <p:cNvCxnSpPr/>
          <p:nvPr/>
        </p:nvCxnSpPr>
        <p:spPr>
          <a:xfrm>
            <a:off x="685629" y="514336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019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29020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案例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9020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案例：方法如何解释一个具体过程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9048-10"/>
          <p:cNvSpPr txBox="1"/>
          <p:nvPr/>
        </p:nvSpPr>
        <p:spPr>
          <a:xfrm>
            <a:off x="685629" y="4700567"/>
            <a:ext cx="11498562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案例证据位：事件时间线或过程图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91698029049-11"/>
          <p:cNvSpPr txBox="1"/>
          <p:nvPr/>
        </p:nvSpPr>
        <p:spPr>
          <a:xfrm>
            <a:off x="685629" y="5281447"/>
            <a:ext cx="3734581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阶段A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049-12"/>
          <p:cNvSpPr txBox="1"/>
          <p:nvPr/>
        </p:nvSpPr>
        <p:spPr>
          <a:xfrm>
            <a:off x="685629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填写初始状态、可观察信息及其边界。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91698029050-13"/>
          <p:cNvSpPr txBox="1"/>
          <p:nvPr/>
        </p:nvSpPr>
        <p:spPr>
          <a:xfrm>
            <a:off x="4399450" y="5281447"/>
            <a:ext cx="4063682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阶段B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050-14"/>
          <p:cNvSpPr txBox="1"/>
          <p:nvPr/>
        </p:nvSpPr>
        <p:spPr>
          <a:xfrm>
            <a:off x="4399450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填写关键变化及对应证据，说明与前一阶段的联系。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050-15"/>
          <p:cNvSpPr txBox="1"/>
          <p:nvPr/>
        </p:nvSpPr>
        <p:spPr>
          <a:xfrm>
            <a:off x="8113271" y="5281447"/>
            <a:ext cx="3734581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阶段C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9050-16"/>
          <p:cNvSpPr txBox="1"/>
          <p:nvPr/>
        </p:nvSpPr>
        <p:spPr>
          <a:xfrm>
            <a:off x="8113271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填写结果与后续处理，保留案例不能代表整体的限定。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021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021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018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21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21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217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规模与变化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21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发现一：对象规模、变化及解释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921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21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el-179169802921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2000" name="Editable evidence placeholder"/>
          <p:cNvSpPr txBox="1"/>
          <p:nvPr/>
        </p:nvSpPr>
        <p:spPr>
          <a:xfrm>
            <a:off x="685800" y="1266969"/>
            <a:ext cx="10820400" cy="2971511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研究证据图占位</a:t>
            </a:r>
          </a:p>
        </p:txBody>
      </p:sp>
      <p:sp>
        <p:nvSpPr>
          <p:cNvPr id="24" name="v3_P08 scale"/>
          <p:cNvSpPr>
            <a:spLocks noGrp="1"/>
          </p:cNvSpPr>
          <p:nvPr/>
        </p:nvSpPr>
        <p:spPr>
          <a:xfrm>
            <a:off x="685800" y="4305300"/>
            <a:ext cx="10820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说明纵轴、时间窗与比较口径。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v3_P08 peaks"/>
          <p:cNvSpPr>
            <a:spLocks noGrp="1"/>
          </p:cNvSpPr>
          <p:nvPr/>
        </p:nvSpPr>
        <p:spPr>
          <a:xfrm>
            <a:off x="685800" y="452437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仅在来源支持时解释变化原因。</a:t>
            </a:r>
            <a:endParaRPr sz="112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v3_P08 divider"/>
          <p:cNvSpPr>
            <a:spLocks noGrp="1"/>
          </p:cNvSpPr>
          <p:nvPr/>
        </p:nvSpPr>
        <p:spPr>
          <a:xfrm>
            <a:off x="68580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7" name="v3_P08 stat0"/>
          <p:cNvSpPr>
            <a:spLocks noGrp="1"/>
          </p:cNvSpPr>
          <p:nvPr/>
        </p:nvSpPr>
        <p:spPr>
          <a:xfrm>
            <a:off x="68580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总量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v3_P08 statdesc0"/>
          <p:cNvSpPr>
            <a:spLocks noGrp="1"/>
          </p:cNvSpPr>
          <p:nvPr/>
        </p:nvSpPr>
        <p:spPr>
          <a:xfrm>
            <a:off x="68580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填写总量、单位与覆盖范围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v3_P08 divider"/>
          <p:cNvSpPr>
            <a:spLocks noGrp="1"/>
          </p:cNvSpPr>
          <p:nvPr/>
        </p:nvSpPr>
        <p:spPr>
          <a:xfrm>
            <a:off x="344805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0" name="v3_P08 stat1"/>
          <p:cNvSpPr>
            <a:spLocks noGrp="1"/>
          </p:cNvSpPr>
          <p:nvPr/>
        </p:nvSpPr>
        <p:spPr>
          <a:xfrm>
            <a:off x="344805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时期A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v3_P08 statdesc1"/>
          <p:cNvSpPr>
            <a:spLocks noGrp="1"/>
          </p:cNvSpPr>
          <p:nvPr/>
        </p:nvSpPr>
        <p:spPr>
          <a:xfrm>
            <a:off x="344805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填写前期统计及时间窗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v3_P08 divider"/>
          <p:cNvSpPr>
            <a:spLocks noGrp="1"/>
          </p:cNvSpPr>
          <p:nvPr/>
        </p:nvSpPr>
        <p:spPr>
          <a:xfrm>
            <a:off x="621030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3" name="v3_P08 stat2"/>
          <p:cNvSpPr>
            <a:spLocks noGrp="1"/>
          </p:cNvSpPr>
          <p:nvPr/>
        </p:nvSpPr>
        <p:spPr>
          <a:xfrm>
            <a:off x="621030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时期B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v3_P08 statdesc2"/>
          <p:cNvSpPr>
            <a:spLocks noGrp="1"/>
          </p:cNvSpPr>
          <p:nvPr/>
        </p:nvSpPr>
        <p:spPr>
          <a:xfrm>
            <a:off x="621030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填写后期统计及时间窗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v3_P08 divider"/>
          <p:cNvSpPr>
            <a:spLocks noGrp="1"/>
          </p:cNvSpPr>
          <p:nvPr/>
        </p:nvSpPr>
        <p:spPr>
          <a:xfrm>
            <a:off x="897255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6" name="v3_P08 stat3"/>
          <p:cNvSpPr>
            <a:spLocks noGrp="1"/>
          </p:cNvSpPr>
          <p:nvPr/>
        </p:nvSpPr>
        <p:spPr>
          <a:xfrm>
            <a:off x="897255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比例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v3_P08 statdesc3"/>
          <p:cNvSpPr>
            <a:spLocks noGrp="1"/>
          </p:cNvSpPr>
          <p:nvPr/>
        </p:nvSpPr>
        <p:spPr>
          <a:xfrm>
            <a:off x="897255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填写比例的分子、分母和含义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v3_P08 surplus"/>
          <p:cNvSpPr>
            <a:spLocks noGrp="1"/>
          </p:cNvSpPr>
          <p:nvPr/>
        </p:nvSpPr>
        <p:spPr>
          <a:xfrm>
            <a:off x="685800" y="5848350"/>
            <a:ext cx="10820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写出这组证据对研究问题的回答</a:t>
            </a:r>
            <a:endParaRPr sz="150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v3_P08 boundary"/>
          <p:cNvSpPr>
            <a:spLocks noGrp="1"/>
          </p:cNvSpPr>
          <p:nvPr/>
        </p:nvSpPr>
        <p:spPr>
          <a:xfrm>
            <a:off x="685800" y="6153150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保留数据缺失、选择条件和推断边界。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33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339-8"/>
          <p:cNvCxnSpPr/>
          <p:nvPr/>
        </p:nvCxnSpPr>
        <p:spPr>
          <a:xfrm>
            <a:off x="685629" y="995971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933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9338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分类与来源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338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分类证据、来源分布与解释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360-10"/>
          <p:cNvSpPr txBox="1"/>
          <p:nvPr/>
        </p:nvSpPr>
        <p:spPr>
          <a:xfrm>
            <a:off x="685629" y="1134049"/>
            <a:ext cx="4060712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25%</a:t>
            </a:r>
            <a:r>
              <a:rPr sz="8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362-14"/>
          <p:cNvSpPr txBox="1"/>
          <p:nvPr/>
        </p:nvSpPr>
        <p:spPr>
          <a:xfrm>
            <a:off x="685629" y="1472102"/>
            <a:ext cx="359010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类别A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363-15"/>
          <p:cNvSpPr txBox="1"/>
          <p:nvPr/>
        </p:nvSpPr>
        <p:spPr>
          <a:xfrm>
            <a:off x="685629" y="1905381"/>
            <a:ext cx="299113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占位定义A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361-11"/>
          <p:cNvSpPr txBox="1"/>
          <p:nvPr/>
        </p:nvSpPr>
        <p:spPr>
          <a:xfrm>
            <a:off x="3693139" y="1134049"/>
            <a:ext cx="3946887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25%</a:t>
            </a:r>
            <a:r>
              <a:rPr sz="8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363-16"/>
          <p:cNvSpPr txBox="1"/>
          <p:nvPr/>
        </p:nvSpPr>
        <p:spPr>
          <a:xfrm>
            <a:off x="3693139" y="1472102"/>
            <a:ext cx="317460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类别B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9363-17"/>
          <p:cNvSpPr txBox="1"/>
          <p:nvPr/>
        </p:nvSpPr>
        <p:spPr>
          <a:xfrm>
            <a:off x="3693139" y="1905381"/>
            <a:ext cx="24202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占位定义B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361-12"/>
          <p:cNvSpPr txBox="1"/>
          <p:nvPr/>
        </p:nvSpPr>
        <p:spPr>
          <a:xfrm>
            <a:off x="6129739" y="1134049"/>
            <a:ext cx="5089006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25%</a:t>
            </a:r>
            <a:r>
              <a:rPr sz="8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363-18"/>
          <p:cNvSpPr txBox="1"/>
          <p:nvPr/>
        </p:nvSpPr>
        <p:spPr>
          <a:xfrm>
            <a:off x="6129739" y="1472102"/>
            <a:ext cx="431672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类别C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363-19"/>
          <p:cNvSpPr txBox="1"/>
          <p:nvPr/>
        </p:nvSpPr>
        <p:spPr>
          <a:xfrm>
            <a:off x="6129739" y="1905381"/>
            <a:ext cx="35623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占位定义C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362-13"/>
          <p:cNvSpPr txBox="1"/>
          <p:nvPr/>
        </p:nvSpPr>
        <p:spPr>
          <a:xfrm>
            <a:off x="9708459" y="1134049"/>
            <a:ext cx="2480493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25%</a:t>
            </a:r>
            <a:r>
              <a:rPr sz="840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364-20"/>
          <p:cNvSpPr txBox="1"/>
          <p:nvPr/>
        </p:nvSpPr>
        <p:spPr>
          <a:xfrm>
            <a:off x="9708459" y="1472102"/>
            <a:ext cx="227080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类别D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364-21"/>
          <p:cNvSpPr txBox="1"/>
          <p:nvPr/>
        </p:nvSpPr>
        <p:spPr>
          <a:xfrm>
            <a:off x="9708459" y="1905381"/>
            <a:ext cx="193084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占位定义D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933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33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09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el-1791698029336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6" name="el-1791698029366-23"/>
          <p:cNvSpPr/>
          <p:nvPr/>
        </p:nvSpPr>
        <p:spPr>
          <a:xfrm>
            <a:off x="685629" y="1810155"/>
            <a:ext cx="2855149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ditable quarter A"/>
          <p:cNvSpPr/>
          <p:nvPr/>
        </p:nvSpPr>
        <p:spPr>
          <a:xfrm>
            <a:off x="685629" y="1810155"/>
            <a:ext cx="713787" cy="76181"/>
          </a:xfrm>
          <a:prstGeom prst="rect">
            <a:avLst/>
          </a:prstGeom>
          <a:solidFill>
            <a:srgbClr val="3E5C9A"/>
          </a:solidFill>
          <a:ln>
            <a:noFill/>
          </a:ln>
        </p:spPr>
      </p:sp>
      <p:sp>
        <p:nvSpPr>
          <p:cNvPr id="38" name="el-1791698029367-24"/>
          <p:cNvSpPr/>
          <p:nvPr/>
        </p:nvSpPr>
        <p:spPr>
          <a:xfrm>
            <a:off x="3693139" y="1810155"/>
            <a:ext cx="2284238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-1791698029374-40"/>
          <p:cNvSpPr/>
          <p:nvPr/>
        </p:nvSpPr>
        <p:spPr>
          <a:xfrm>
            <a:off x="3693139" y="1810155"/>
            <a:ext cx="571060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>
              <a:alpha val="5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-1791698029367-25"/>
          <p:cNvSpPr/>
          <p:nvPr/>
        </p:nvSpPr>
        <p:spPr>
          <a:xfrm>
            <a:off x="6129739" y="1810155"/>
            <a:ext cx="3426357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-1791698029374-41"/>
          <p:cNvSpPr/>
          <p:nvPr/>
        </p:nvSpPr>
        <p:spPr>
          <a:xfrm>
            <a:off x="6129739" y="1810155"/>
            <a:ext cx="856589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-1791698029367-26"/>
          <p:cNvSpPr/>
          <p:nvPr/>
        </p:nvSpPr>
        <p:spPr>
          <a:xfrm>
            <a:off x="9708459" y="1810155"/>
            <a:ext cx="1794865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-1791698029375-42"/>
          <p:cNvSpPr/>
          <p:nvPr/>
        </p:nvSpPr>
        <p:spPr>
          <a:xfrm>
            <a:off x="9708459" y="1810155"/>
            <a:ext cx="448716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8A93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3_P09_C selected"/>
          <p:cNvSpPr>
            <a:spLocks noGrp="1"/>
          </p:cNvSpPr>
          <p:nvPr/>
        </p:nvSpPr>
        <p:spPr>
          <a:xfrm>
            <a:off x="685800" y="2505075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占位演示数据：八个来源，数值8至1</a:t>
            </a:r>
            <a:endParaRPr sz="13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v3_P09_C union"/>
          <p:cNvSpPr>
            <a:spLocks noGrp="1"/>
          </p:cNvSpPr>
          <p:nvPr/>
        </p:nvSpPr>
        <p:spPr>
          <a:xfrm>
            <a:off x="685800" y="5857875"/>
            <a:ext cx="6477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示意单位；新稿说明并集、重叠与选列范围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v3_P09_C divider"/>
          <p:cNvSpPr>
            <a:spLocks noGrp="1"/>
          </p:cNvSpPr>
          <p:nvPr/>
        </p:nvSpPr>
        <p:spPr>
          <a:xfrm>
            <a:off x="7639050" y="2838450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48" name="v3_P09_C head0"/>
          <p:cNvSpPr>
            <a:spLocks noGrp="1"/>
          </p:cNvSpPr>
          <p:nvPr/>
        </p:nvSpPr>
        <p:spPr>
          <a:xfrm>
            <a:off x="7639050" y="2962275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主要差异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v3_P09_C body0"/>
          <p:cNvSpPr>
            <a:spLocks noGrp="1"/>
          </p:cNvSpPr>
          <p:nvPr/>
        </p:nvSpPr>
        <p:spPr>
          <a:xfrm>
            <a:off x="7639050" y="3324225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解释哪条证据支持本页回答，而不重复全部数字。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v3_P09_C divider"/>
          <p:cNvSpPr>
            <a:spLocks noGrp="1"/>
          </p:cNvSpPr>
          <p:nvPr/>
        </p:nvSpPr>
        <p:spPr>
          <a:xfrm>
            <a:off x="7639050" y="3895725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51" name="v3_P09_C head1"/>
          <p:cNvSpPr>
            <a:spLocks noGrp="1"/>
          </p:cNvSpPr>
          <p:nvPr/>
        </p:nvSpPr>
        <p:spPr>
          <a:xfrm>
            <a:off x="7639050" y="4019550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原因或机制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v3_P09_C body1"/>
          <p:cNvSpPr>
            <a:spLocks noGrp="1"/>
          </p:cNvSpPr>
          <p:nvPr/>
        </p:nvSpPr>
        <p:spPr>
          <a:xfrm>
            <a:off x="7639050" y="4381500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连接图中差异与已给出的业务或方法上下文。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v3_P09_C divider"/>
          <p:cNvSpPr>
            <a:spLocks noGrp="1"/>
          </p:cNvSpPr>
          <p:nvPr/>
        </p:nvSpPr>
        <p:spPr>
          <a:xfrm>
            <a:off x="7639050" y="4953000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54" name="v3_P09_C head2"/>
          <p:cNvSpPr>
            <a:spLocks noGrp="1"/>
          </p:cNvSpPr>
          <p:nvPr/>
        </p:nvSpPr>
        <p:spPr>
          <a:xfrm>
            <a:off x="7639050" y="5076825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证据范围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v3_P09_C body2"/>
          <p:cNvSpPr>
            <a:spLocks noGrp="1"/>
          </p:cNvSpPr>
          <p:nvPr/>
        </p:nvSpPr>
        <p:spPr>
          <a:xfrm>
            <a:off x="7639050" y="5438775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写清分母、时间窗与未判定部分，避免扩大结论。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v3_P09_denominator"/>
          <p:cNvSpPr txBox="1"/>
          <p:nvPr/>
        </p:nvSpPr>
        <p:spPr>
          <a:xfrm>
            <a:off x="685629" y="2143125"/>
            <a:ext cx="1082040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四组25%及来源8至1均为排版示意，两个区域无统计关联。</a:t>
            </a:r>
            <a:endParaRPr sz="110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91803793299-32"/>
          <p:cNvSpPr txBox="1"/>
          <p:nvPr/>
        </p:nvSpPr>
        <p:spPr>
          <a:xfrm>
            <a:off x="21600" y="3182789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来源A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91803793299-33"/>
          <p:cNvSpPr txBox="1"/>
          <p:nvPr/>
        </p:nvSpPr>
        <p:spPr>
          <a:xfrm>
            <a:off x="6586969" y="3166719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el-1791803793299-34"/>
          <p:cNvSpPr txBox="1"/>
          <p:nvPr/>
        </p:nvSpPr>
        <p:spPr>
          <a:xfrm>
            <a:off x="-184089" y="3461325"/>
            <a:ext cx="2371608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来源B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91803793299-35"/>
          <p:cNvSpPr txBox="1"/>
          <p:nvPr/>
        </p:nvSpPr>
        <p:spPr>
          <a:xfrm>
            <a:off x="6586969" y="3445256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el-1791803793299-36"/>
          <p:cNvSpPr txBox="1"/>
          <p:nvPr/>
        </p:nvSpPr>
        <p:spPr>
          <a:xfrm>
            <a:off x="-101813" y="3739862"/>
            <a:ext cx="2289333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来源C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91803793299-37"/>
          <p:cNvSpPr txBox="1"/>
          <p:nvPr/>
        </p:nvSpPr>
        <p:spPr>
          <a:xfrm>
            <a:off x="6586969" y="3723793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el-1791803793299-38"/>
          <p:cNvSpPr txBox="1"/>
          <p:nvPr/>
        </p:nvSpPr>
        <p:spPr>
          <a:xfrm>
            <a:off x="21600" y="4018399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来源D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91803793300-39"/>
          <p:cNvSpPr txBox="1"/>
          <p:nvPr/>
        </p:nvSpPr>
        <p:spPr>
          <a:xfrm>
            <a:off x="6586969" y="4002329"/>
            <a:ext cx="1292124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6" name="el-1791803793300-40"/>
          <p:cNvSpPr txBox="1"/>
          <p:nvPr/>
        </p:nvSpPr>
        <p:spPr>
          <a:xfrm>
            <a:off x="21600" y="4296935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来源E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91803793300-41"/>
          <p:cNvSpPr txBox="1"/>
          <p:nvPr/>
        </p:nvSpPr>
        <p:spPr>
          <a:xfrm>
            <a:off x="6586969" y="4280866"/>
            <a:ext cx="1292124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8" name="el-1791803793300-42"/>
          <p:cNvSpPr txBox="1"/>
          <p:nvPr/>
        </p:nvSpPr>
        <p:spPr>
          <a:xfrm>
            <a:off x="-142951" y="4575472"/>
            <a:ext cx="233047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来源F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91803793300-43"/>
          <p:cNvSpPr txBox="1"/>
          <p:nvPr/>
        </p:nvSpPr>
        <p:spPr>
          <a:xfrm>
            <a:off x="6586969" y="4559402"/>
            <a:ext cx="1250986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el-1791803793300-44"/>
          <p:cNvSpPr txBox="1"/>
          <p:nvPr/>
        </p:nvSpPr>
        <p:spPr>
          <a:xfrm>
            <a:off x="-142951" y="4854008"/>
            <a:ext cx="233047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来源G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91803793301-45"/>
          <p:cNvSpPr txBox="1"/>
          <p:nvPr/>
        </p:nvSpPr>
        <p:spPr>
          <a:xfrm>
            <a:off x="6586969" y="4837939"/>
            <a:ext cx="1250986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2" name="el-1791803793301-46"/>
          <p:cNvSpPr txBox="1"/>
          <p:nvPr/>
        </p:nvSpPr>
        <p:spPr>
          <a:xfrm>
            <a:off x="21600" y="5132545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来源H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91803793301-47"/>
          <p:cNvSpPr txBox="1"/>
          <p:nvPr/>
        </p:nvSpPr>
        <p:spPr>
          <a:xfrm>
            <a:off x="6586969" y="5116476"/>
            <a:ext cx="1127573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el-1791803793289-21"/>
          <p:cNvSpPr txBox="1"/>
          <p:nvPr/>
        </p:nvSpPr>
        <p:spPr>
          <a:xfrm>
            <a:off x="111589" y="5395012"/>
            <a:ext cx="7929961" cy="1785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示意条形采用共同基线和线性比例。新稿须按真实来源与数值更新，不能只改数字。</a:t>
            </a:r>
            <a:endParaRPr sz="93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91803793304-49"/>
          <p:cNvSpPr/>
          <p:nvPr/>
        </p:nvSpPr>
        <p:spPr>
          <a:xfrm>
            <a:off x="2301791" y="317267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-1791803793312-61"/>
          <p:cNvSpPr/>
          <p:nvPr/>
        </p:nvSpPr>
        <p:spPr>
          <a:xfrm>
            <a:off x="2301791" y="317267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-1791803793305-50"/>
          <p:cNvSpPr/>
          <p:nvPr/>
        </p:nvSpPr>
        <p:spPr>
          <a:xfrm>
            <a:off x="2301791" y="3451208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-1791803793312-62"/>
          <p:cNvSpPr/>
          <p:nvPr/>
        </p:nvSpPr>
        <p:spPr>
          <a:xfrm>
            <a:off x="2301791" y="3451208"/>
            <a:ext cx="3649544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-1791803793305-51"/>
          <p:cNvSpPr/>
          <p:nvPr/>
        </p:nvSpPr>
        <p:spPr>
          <a:xfrm>
            <a:off x="2301791" y="3729744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-1791803793312-63"/>
          <p:cNvSpPr/>
          <p:nvPr/>
        </p:nvSpPr>
        <p:spPr>
          <a:xfrm>
            <a:off x="2301791" y="3729744"/>
            <a:ext cx="3128180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-1791803793305-52"/>
          <p:cNvSpPr/>
          <p:nvPr/>
        </p:nvSpPr>
        <p:spPr>
          <a:xfrm>
            <a:off x="2301791" y="400828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-1791803793312-64"/>
          <p:cNvSpPr/>
          <p:nvPr/>
        </p:nvSpPr>
        <p:spPr>
          <a:xfrm>
            <a:off x="2301791" y="4008281"/>
            <a:ext cx="260681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-1791803793305-53"/>
          <p:cNvSpPr/>
          <p:nvPr/>
        </p:nvSpPr>
        <p:spPr>
          <a:xfrm>
            <a:off x="2301791" y="4286817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-1791803793313-65"/>
          <p:cNvSpPr/>
          <p:nvPr/>
        </p:nvSpPr>
        <p:spPr>
          <a:xfrm>
            <a:off x="2301791" y="4286817"/>
            <a:ext cx="2085454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-1791803793306-54"/>
          <p:cNvSpPr/>
          <p:nvPr/>
        </p:nvSpPr>
        <p:spPr>
          <a:xfrm>
            <a:off x="2301791" y="4565354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-1791803793313-66"/>
          <p:cNvSpPr/>
          <p:nvPr/>
        </p:nvSpPr>
        <p:spPr>
          <a:xfrm>
            <a:off x="2301791" y="4565354"/>
            <a:ext cx="1564090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-1791803793306-55"/>
          <p:cNvSpPr/>
          <p:nvPr/>
        </p:nvSpPr>
        <p:spPr>
          <a:xfrm>
            <a:off x="2301791" y="484389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-1791803793313-67"/>
          <p:cNvSpPr/>
          <p:nvPr/>
        </p:nvSpPr>
        <p:spPr>
          <a:xfrm>
            <a:off x="2301791" y="4843891"/>
            <a:ext cx="104272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-1791803793306-56"/>
          <p:cNvSpPr/>
          <p:nvPr/>
        </p:nvSpPr>
        <p:spPr>
          <a:xfrm>
            <a:off x="2301791" y="5122427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ditable bar H"/>
          <p:cNvSpPr/>
          <p:nvPr/>
        </p:nvSpPr>
        <p:spPr>
          <a:xfrm>
            <a:off x="2301791" y="5122427"/>
            <a:ext cx="521363" cy="180930"/>
          </a:xfrm>
          <a:prstGeom prst="rect">
            <a:avLst/>
          </a:prstGeom>
          <a:solidFill>
            <a:srgbClr val="7E93BC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38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0" name="Editable evidence placeholder"/>
          <p:cNvSpPr txBox="1"/>
          <p:nvPr/>
        </p:nvSpPr>
        <p:spPr>
          <a:xfrm>
            <a:off x="685629" y="1867808"/>
            <a:ext cx="5694526" cy="3423834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研究证据图占位</a:t>
            </a:r>
          </a:p>
        </p:txBody>
      </p:sp>
      <p:cxnSp>
        <p:nvCxnSpPr>
          <p:cNvPr id="4" name="el-1791698029401-13"/>
          <p:cNvCxnSpPr/>
          <p:nvPr/>
        </p:nvCxnSpPr>
        <p:spPr>
          <a:xfrm>
            <a:off x="6799150" y="1846609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401-14"/>
          <p:cNvCxnSpPr/>
          <p:nvPr/>
        </p:nvCxnSpPr>
        <p:spPr>
          <a:xfrm>
            <a:off x="9294076" y="1846609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401-15"/>
          <p:cNvCxnSpPr/>
          <p:nvPr/>
        </p:nvCxnSpPr>
        <p:spPr>
          <a:xfrm>
            <a:off x="6799150" y="3282590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402-16"/>
          <p:cNvCxnSpPr/>
          <p:nvPr/>
        </p:nvCxnSpPr>
        <p:spPr>
          <a:xfrm>
            <a:off x="9294076" y="3282590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91698029400-10"/>
          <p:cNvSpPr/>
          <p:nvPr/>
        </p:nvSpPr>
        <p:spPr>
          <a:xfrm>
            <a:off x="6799150" y="4713810"/>
            <a:ext cx="4704174" cy="8737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91698029400-12"/>
          <p:cNvCxnSpPr/>
          <p:nvPr/>
        </p:nvCxnSpPr>
        <p:spPr>
          <a:xfrm>
            <a:off x="6813434" y="4713810"/>
            <a:ext cx="914" cy="8737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9169802938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91698029386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对象特征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38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发现三：对象特征与分布差异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29400-11"/>
          <p:cNvSpPr txBox="1"/>
          <p:nvPr/>
        </p:nvSpPr>
        <p:spPr>
          <a:xfrm>
            <a:off x="685629" y="5339922"/>
            <a:ext cx="6790579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特征证据位：分布或比较图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403-19"/>
          <p:cNvSpPr txBox="1"/>
          <p:nvPr/>
        </p:nvSpPr>
        <p:spPr>
          <a:xfrm>
            <a:off x="6799150" y="1956119"/>
            <a:ext cx="2993150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规模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9403-17"/>
          <p:cNvSpPr txBox="1"/>
          <p:nvPr/>
        </p:nvSpPr>
        <p:spPr>
          <a:xfrm>
            <a:off x="6799150" y="2287476"/>
            <a:ext cx="2209248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填写对象数量、统计单位与覆盖范围。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404-20"/>
          <p:cNvSpPr txBox="1"/>
          <p:nvPr/>
        </p:nvSpPr>
        <p:spPr>
          <a:xfrm>
            <a:off x="9294076" y="1956119"/>
            <a:ext cx="282250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组成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404-21"/>
          <p:cNvSpPr txBox="1"/>
          <p:nvPr/>
        </p:nvSpPr>
        <p:spPr>
          <a:xfrm>
            <a:off x="9294076" y="2287476"/>
            <a:ext cx="2209248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填写主要类型及各自定义。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404-22"/>
          <p:cNvSpPr txBox="1"/>
          <p:nvPr/>
        </p:nvSpPr>
        <p:spPr>
          <a:xfrm>
            <a:off x="6799150" y="3392100"/>
            <a:ext cx="2651859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分布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el-1791698029404-23"/>
          <p:cNvSpPr txBox="1"/>
          <p:nvPr/>
        </p:nvSpPr>
        <p:spPr>
          <a:xfrm>
            <a:off x="6799150" y="3723457"/>
            <a:ext cx="2209248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说明典型对象与少数特殊对象的差异。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404-24"/>
          <p:cNvSpPr txBox="1"/>
          <p:nvPr/>
        </p:nvSpPr>
        <p:spPr>
          <a:xfrm>
            <a:off x="9294076" y="3392100"/>
            <a:ext cx="2894876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规律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403-18"/>
          <p:cNvSpPr txBox="1"/>
          <p:nvPr/>
        </p:nvSpPr>
        <p:spPr>
          <a:xfrm>
            <a:off x="9294076" y="3723457"/>
            <a:ext cx="2209248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解释指标如何计算，以及它不能证明什么。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400-9"/>
          <p:cNvSpPr txBox="1"/>
          <p:nvPr/>
        </p:nvSpPr>
        <p:spPr>
          <a:xfrm>
            <a:off x="6970557" y="4818558"/>
            <a:ext cx="4389927" cy="6642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说明图中差异如何回应研究问题，保留样本和比较条件。</a:t>
            </a:r>
            <a:endParaRPr sz="11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38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38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938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55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9169802955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91698029558-6"/>
          <p:cNvSpPr txBox="1"/>
          <p:nvPr/>
        </p:nvSpPr>
        <p:spPr>
          <a:xfrm>
            <a:off x="685629" y="155600"/>
            <a:ext cx="1150332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系统输出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559-7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证据表、关键状态与解释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el-1791698029559-9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9559-10"/>
          <p:cNvSpPr txBox="1"/>
          <p:nvPr/>
        </p:nvSpPr>
        <p:spPr>
          <a:xfrm>
            <a:off x="11085667" y="6538135"/>
            <a:ext cx="8656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el-179169802955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graphicFrame>
        <p:nvGraphicFramePr>
          <p:cNvPr id="46" name="v3_"/>
          <p:cNvGraphicFramePr/>
          <p:nvPr/>
        </p:nvGraphicFramePr>
        <p:xfrm>
          <a:off x="685800" y="1295400"/>
          <a:ext cx="7677150" cy="4371975"/>
        </p:xfrm>
        <a:graphic>
          <a:graphicData uri="http://schemas.openxmlformats.org/drawingml/2006/table">
            <a:tbl>
              <a:tblPr/>
              <a:tblGrid>
                <a:gridCol w="2886075"/>
                <a:gridCol w="1943100"/>
                <a:gridCol w="1066800"/>
                <a:gridCol w="1781175"/>
              </a:tblGrid>
              <a:tr h="3905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记录/事件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证据状态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发现渠道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范围/总量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v3_P11 seven"/>
          <p:cNvSpPr>
            <a:spLocks noGrp="1"/>
          </p:cNvSpPr>
          <p:nvPr/>
        </p:nvSpPr>
        <p:spPr>
          <a:xfrm>
            <a:off x="8867775" y="1609725"/>
            <a:ext cx="2638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数量A</a:t>
            </a:r>
            <a:endParaRPr sz="32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v3_P11 seven-desc"/>
          <p:cNvSpPr>
            <a:spLocks noGrp="1"/>
          </p:cNvSpPr>
          <p:nvPr/>
        </p:nvSpPr>
        <p:spPr>
          <a:xfrm>
            <a:off x="8867775" y="2200275"/>
            <a:ext cx="2638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填写集合A的定义</a:t>
            </a:r>
            <a:endParaRPr sz="1725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v3_P11 four"/>
          <p:cNvSpPr>
            <a:spLocks noGrp="1"/>
          </p:cNvSpPr>
          <p:nvPr/>
        </p:nvSpPr>
        <p:spPr>
          <a:xfrm>
            <a:off x="8867775" y="3209925"/>
            <a:ext cx="2638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数量B</a:t>
            </a:r>
            <a:endParaRPr sz="3225" b="1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v3_P11 four-desc"/>
          <p:cNvSpPr>
            <a:spLocks noGrp="1"/>
          </p:cNvSpPr>
          <p:nvPr/>
        </p:nvSpPr>
        <p:spPr>
          <a:xfrm>
            <a:off x="8867775" y="3810000"/>
            <a:ext cx="26384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填写集合B的定义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v3_P11 interpretation"/>
          <p:cNvSpPr>
            <a:spLocks noGrp="1"/>
          </p:cNvSpPr>
          <p:nvPr/>
        </p:nvSpPr>
        <p:spPr>
          <a:xfrm>
            <a:off x="8867775" y="4629150"/>
            <a:ext cx="26384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解释表中差异与研究问题之间的关系。关键子集、状态和分母保留在页面上。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v3_P11 missing"/>
          <p:cNvSpPr>
            <a:spLocks noGrp="1"/>
          </p:cNvSpPr>
          <p:nvPr/>
        </p:nvSpPr>
        <p:spPr>
          <a:xfrm>
            <a:off x="685800" y="57626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占位单元格用横线表示待填，不能读为零或缺失实测。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v3_P11 blindspot"/>
          <p:cNvSpPr>
            <a:spLocks noGrp="1"/>
          </p:cNvSpPr>
          <p:nvPr/>
        </p:nvSpPr>
        <p:spPr>
          <a:xfrm>
            <a:off x="685800" y="6181725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按证据说明覆盖与盲区，观察关联不扩大为检测性能。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70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70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706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核心证据 / 并列指标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706-5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对应子图的发现与适用范围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706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占位模板，无研究结果。新稿填写准确来源。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70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el-179169802970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0" name="Evidence placeholder"/>
          <p:cNvSpPr txBox="1"/>
          <p:nvPr/>
        </p:nvSpPr>
        <p:spPr>
          <a:xfrm>
            <a:off x="685800" y="1361065"/>
            <a:ext cx="10820400" cy="2869045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3"/>
            </a:solidFill>
          </a:ln>
        </p:spPr>
        <p:txBody>
          <a:bodyPr anchor="ctr"/>
          <a:lstStyle/>
          <a:p>
            <a:pPr algn="ctr"/>
            <a:r>
              <a:rPr lang="zh-CN" sz="1800">
                <a:solidFill>
                  <a:srgbClr val="5A6472"/>
                </a:solidFill>
                <a:latin typeface="Times New Roman"/>
                <a:ea typeface="微软雅黑"/>
              </a:rPr>
              <a:t>证据图占位 · 按授权替换</a:t>
            </a:r>
          </a:p>
        </p:txBody>
      </p:sp>
      <p:sp>
        <p:nvSpPr>
          <p:cNvPr id="21" name="v3_P12 divider"/>
          <p:cNvSpPr>
            <a:spLocks noGrp="1"/>
          </p:cNvSpPr>
          <p:nvPr/>
        </p:nvSpPr>
        <p:spPr>
          <a:xfrm>
            <a:off x="685800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2" name="v3_P12 metric0"/>
          <p:cNvSpPr>
            <a:spLocks noGrp="1"/>
          </p:cNvSpPr>
          <p:nvPr/>
        </p:nvSpPr>
        <p:spPr>
          <a:xfrm>
            <a:off x="685800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指标A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v3_P12 ids0"/>
          <p:cNvSpPr>
            <a:spLocks noGrp="1"/>
          </p:cNvSpPr>
          <p:nvPr/>
        </p:nvSpPr>
        <p:spPr>
          <a:xfrm>
            <a:off x="685800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填写图(a)支持的发现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v3_P12 divider"/>
          <p:cNvSpPr>
            <a:spLocks noGrp="1"/>
          </p:cNvSpPr>
          <p:nvPr/>
        </p:nvSpPr>
        <p:spPr>
          <a:xfrm>
            <a:off x="4371975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5" name="v3_P12 metric1"/>
          <p:cNvSpPr>
            <a:spLocks noGrp="1"/>
          </p:cNvSpPr>
          <p:nvPr/>
        </p:nvSpPr>
        <p:spPr>
          <a:xfrm>
            <a:off x="4371975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指标B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v3_P12 ids1"/>
          <p:cNvSpPr>
            <a:spLocks noGrp="1"/>
          </p:cNvSpPr>
          <p:nvPr/>
        </p:nvSpPr>
        <p:spPr>
          <a:xfrm>
            <a:off x="4371975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填写图(b)支持的发现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v3_P12 divider"/>
          <p:cNvSpPr>
            <a:spLocks noGrp="1"/>
          </p:cNvSpPr>
          <p:nvPr/>
        </p:nvSpPr>
        <p:spPr>
          <a:xfrm>
            <a:off x="8058150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8" name="v3_P12 metric2"/>
          <p:cNvSpPr>
            <a:spLocks noGrp="1"/>
          </p:cNvSpPr>
          <p:nvPr/>
        </p:nvSpPr>
        <p:spPr>
          <a:xfrm>
            <a:off x="8058150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 指标C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v3_P12 ids2"/>
          <p:cNvSpPr>
            <a:spLocks noGrp="1"/>
          </p:cNvSpPr>
          <p:nvPr/>
        </p:nvSpPr>
        <p:spPr>
          <a:xfrm>
            <a:off x="8058150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填写图(c)支持的发现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v3_P12 metric-description0"/>
          <p:cNvSpPr>
            <a:spLocks noGrp="1"/>
          </p:cNvSpPr>
          <p:nvPr/>
        </p:nvSpPr>
        <p:spPr>
          <a:xfrm>
            <a:off x="685800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说明计算直觉、窗口和样本。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v3_P12 metric-description1"/>
          <p:cNvSpPr>
            <a:spLocks noGrp="1"/>
          </p:cNvSpPr>
          <p:nvPr/>
        </p:nvSpPr>
        <p:spPr>
          <a:xfrm>
            <a:off x="4371975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说明与前一指标的区别。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v3_P12 metric-description2"/>
          <p:cNvSpPr>
            <a:spLocks noGrp="1"/>
          </p:cNvSpPr>
          <p:nvPr/>
        </p:nvSpPr>
        <p:spPr>
          <a:xfrm>
            <a:off x="8058150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解释比较对象及其含义。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v3_P12 limit"/>
          <p:cNvSpPr>
            <a:spLocks noGrp="1"/>
          </p:cNvSpPr>
          <p:nvPr/>
        </p:nvSpPr>
        <p:spPr>
          <a:xfrm>
            <a:off x="685800" y="6076950"/>
            <a:ext cx="10820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按真实材料填写小样本、探索性或外推边界。</a:t>
            </a:r>
            <a:endParaRPr sz="142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67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680-8"/>
          <p:cNvCxnSpPr/>
          <p:nvPr/>
        </p:nvCxnSpPr>
        <p:spPr>
          <a:xfrm>
            <a:off x="685629" y="2326757"/>
            <a:ext cx="5199350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683-14"/>
          <p:cNvCxnSpPr/>
          <p:nvPr/>
        </p:nvCxnSpPr>
        <p:spPr>
          <a:xfrm>
            <a:off x="685629" y="3067140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91698029691-36"/>
          <p:cNvSpPr/>
          <p:nvPr/>
        </p:nvSpPr>
        <p:spPr>
          <a:xfrm>
            <a:off x="685629" y="2488641"/>
            <a:ext cx="413192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91698029683-15"/>
          <p:cNvCxnSpPr/>
          <p:nvPr/>
        </p:nvCxnSpPr>
        <p:spPr>
          <a:xfrm>
            <a:off x="685629" y="4017022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9691-38"/>
          <p:cNvSpPr/>
          <p:nvPr/>
        </p:nvSpPr>
        <p:spPr>
          <a:xfrm>
            <a:off x="685629" y="3224264"/>
            <a:ext cx="548443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91698029683-16"/>
          <p:cNvCxnSpPr/>
          <p:nvPr/>
        </p:nvCxnSpPr>
        <p:spPr>
          <a:xfrm>
            <a:off x="685629" y="4966903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692-40"/>
          <p:cNvSpPr/>
          <p:nvPr/>
        </p:nvSpPr>
        <p:spPr>
          <a:xfrm>
            <a:off x="685629" y="4174145"/>
            <a:ext cx="677743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91698029680-9"/>
          <p:cNvCxnSpPr/>
          <p:nvPr/>
        </p:nvCxnSpPr>
        <p:spPr>
          <a:xfrm>
            <a:off x="6303974" y="2326757"/>
            <a:ext cx="5199350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1698029683-17"/>
          <p:cNvCxnSpPr/>
          <p:nvPr/>
        </p:nvCxnSpPr>
        <p:spPr>
          <a:xfrm>
            <a:off x="6303974" y="3067140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91698029692-42"/>
          <p:cNvSpPr/>
          <p:nvPr/>
        </p:nvSpPr>
        <p:spPr>
          <a:xfrm>
            <a:off x="6303974" y="2488641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91698029684-18"/>
          <p:cNvCxnSpPr/>
          <p:nvPr/>
        </p:nvCxnSpPr>
        <p:spPr>
          <a:xfrm>
            <a:off x="6303974" y="3802763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91698029693-44"/>
          <p:cNvSpPr/>
          <p:nvPr/>
        </p:nvSpPr>
        <p:spPr>
          <a:xfrm>
            <a:off x="6303974" y="3224264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5" name="el-1791698029684-19"/>
          <p:cNvCxnSpPr/>
          <p:nvPr/>
        </p:nvCxnSpPr>
        <p:spPr>
          <a:xfrm>
            <a:off x="6303974" y="4538385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91698029693-46"/>
          <p:cNvSpPr/>
          <p:nvPr/>
        </p:nvSpPr>
        <p:spPr>
          <a:xfrm>
            <a:off x="6303974" y="3959886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91698029684-20"/>
          <p:cNvCxnSpPr/>
          <p:nvPr/>
        </p:nvCxnSpPr>
        <p:spPr>
          <a:xfrm>
            <a:off x="6303974" y="5488266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91698029694-48"/>
          <p:cNvSpPr/>
          <p:nvPr/>
        </p:nvSpPr>
        <p:spPr>
          <a:xfrm>
            <a:off x="6303974" y="4695508"/>
            <a:ext cx="528654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9169802967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91698029677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启示与建议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67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研究启示：证据、建议与验证状态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el-1791698029681-10"/>
          <p:cNvSpPr txBox="1"/>
          <p:nvPr/>
        </p:nvSpPr>
        <p:spPr>
          <a:xfrm>
            <a:off x="685629" y="1936330"/>
            <a:ext cx="260919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证据支持的发现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682-12"/>
          <p:cNvSpPr txBox="1"/>
          <p:nvPr/>
        </p:nvSpPr>
        <p:spPr>
          <a:xfrm>
            <a:off x="5292791" y="2012510"/>
            <a:ext cx="95614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填写对应来源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690-35"/>
          <p:cNvSpPr txBox="1"/>
          <p:nvPr/>
        </p:nvSpPr>
        <p:spPr>
          <a:xfrm>
            <a:off x="771332" y="2507687"/>
            <a:ext cx="525083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指标A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9689-28"/>
          <p:cNvSpPr txBox="1"/>
          <p:nvPr/>
        </p:nvSpPr>
        <p:spPr>
          <a:xfrm>
            <a:off x="1194047" y="2450551"/>
            <a:ext cx="221848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发现一的直接含义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91698029686-22"/>
          <p:cNvSpPr txBox="1"/>
          <p:nvPr/>
        </p:nvSpPr>
        <p:spPr>
          <a:xfrm>
            <a:off x="685629" y="2743371"/>
            <a:ext cx="598496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说明证据支持了什么，不扩大到未观察范围。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91698029691-37"/>
          <p:cNvSpPr txBox="1"/>
          <p:nvPr/>
        </p:nvSpPr>
        <p:spPr>
          <a:xfrm>
            <a:off x="771332" y="3243309"/>
            <a:ext cx="736515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指标B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9689-29"/>
          <p:cNvSpPr txBox="1"/>
          <p:nvPr/>
        </p:nvSpPr>
        <p:spPr>
          <a:xfrm>
            <a:off x="1329298" y="3186173"/>
            <a:ext cx="299879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发现二的直接含义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91698029686-23"/>
          <p:cNvSpPr txBox="1"/>
          <p:nvPr/>
        </p:nvSpPr>
        <p:spPr>
          <a:xfrm>
            <a:off x="685629" y="3478994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保留单位、样本与窗口，区分观察关联与因果。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9691-39"/>
          <p:cNvSpPr txBox="1"/>
          <p:nvPr/>
        </p:nvSpPr>
        <p:spPr>
          <a:xfrm>
            <a:off x="771332" y="4193190"/>
            <a:ext cx="101817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指标C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9689-30"/>
          <p:cNvSpPr txBox="1"/>
          <p:nvPr/>
        </p:nvSpPr>
        <p:spPr>
          <a:xfrm>
            <a:off x="1458597" y="4136054"/>
            <a:ext cx="237970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发现三的直接含义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9686-24"/>
          <p:cNvSpPr txBox="1"/>
          <p:nvPr/>
        </p:nvSpPr>
        <p:spPr>
          <a:xfrm>
            <a:off x="685629" y="4428875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解释它与研究问题的联系。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9681-11"/>
          <p:cNvSpPr txBox="1"/>
          <p:nvPr/>
        </p:nvSpPr>
        <p:spPr>
          <a:xfrm>
            <a:off x="6303974" y="1936330"/>
            <a:ext cx="184738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建议与后续验证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682-13"/>
          <p:cNvSpPr txBox="1"/>
          <p:nvPr/>
        </p:nvSpPr>
        <p:spPr>
          <a:xfrm>
            <a:off x="10347367" y="2012510"/>
            <a:ext cx="179721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填写对应来源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9692-41"/>
          <p:cNvSpPr txBox="1"/>
          <p:nvPr/>
        </p:nvSpPr>
        <p:spPr>
          <a:xfrm>
            <a:off x="6389677" y="2507687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证据支持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91698029689-31"/>
          <p:cNvSpPr txBox="1"/>
          <p:nvPr/>
        </p:nvSpPr>
        <p:spPr>
          <a:xfrm>
            <a:off x="7046887" y="2450551"/>
            <a:ext cx="237970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已有证据支持的建议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91698029686-25"/>
          <p:cNvSpPr txBox="1"/>
          <p:nvPr/>
        </p:nvSpPr>
        <p:spPr>
          <a:xfrm>
            <a:off x="6303974" y="2743371"/>
            <a:ext cx="548217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说明建议依据和适用条件。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91698029692-43"/>
          <p:cNvSpPr txBox="1"/>
          <p:nvPr/>
        </p:nvSpPr>
        <p:spPr>
          <a:xfrm>
            <a:off x="6389677" y="3243309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待验证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91698029689-32"/>
          <p:cNvSpPr txBox="1"/>
          <p:nvPr/>
        </p:nvSpPr>
        <p:spPr>
          <a:xfrm>
            <a:off x="7046887" y="3186173"/>
            <a:ext cx="173216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仍需实验或部署验证的方向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91698029686-26"/>
          <p:cNvSpPr txBox="1"/>
          <p:nvPr/>
        </p:nvSpPr>
        <p:spPr>
          <a:xfrm>
            <a:off x="6303974" y="3478994"/>
            <a:ext cx="588497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列出验证目标，勿当作已实现贡献。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91698029693-45"/>
          <p:cNvSpPr txBox="1"/>
          <p:nvPr/>
        </p:nvSpPr>
        <p:spPr>
          <a:xfrm>
            <a:off x="6389677" y="3978931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91698029690-33"/>
          <p:cNvSpPr txBox="1"/>
          <p:nvPr/>
        </p:nvSpPr>
        <p:spPr>
          <a:xfrm>
            <a:off x="7046887" y="3921796"/>
            <a:ext cx="326452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作者提出的后续工作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91698029685-21"/>
          <p:cNvSpPr txBox="1"/>
          <p:nvPr/>
        </p:nvSpPr>
        <p:spPr>
          <a:xfrm>
            <a:off x="6303974" y="4214616"/>
            <a:ext cx="561929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明确它是讨论或展望。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9693-47"/>
          <p:cNvSpPr txBox="1"/>
          <p:nvPr/>
        </p:nvSpPr>
        <p:spPr>
          <a:xfrm>
            <a:off x="6389677" y="4714554"/>
            <a:ext cx="526273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91698029690-34"/>
          <p:cNvSpPr txBox="1"/>
          <p:nvPr/>
        </p:nvSpPr>
        <p:spPr>
          <a:xfrm>
            <a:off x="6927854" y="4657418"/>
            <a:ext cx="224605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确有证据支持的实现结果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91698029687-27"/>
          <p:cNvSpPr txBox="1"/>
          <p:nvPr/>
        </p:nvSpPr>
        <p:spPr>
          <a:xfrm>
            <a:off x="6303974" y="4950238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填写实现范围与验证指标；无此证据时调整此模块。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9169802967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9169802967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el-179169802967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82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828-8"/>
          <p:cNvCxnSpPr/>
          <p:nvPr/>
        </p:nvCxnSpPr>
        <p:spPr>
          <a:xfrm>
            <a:off x="685629" y="1499182"/>
            <a:ext cx="10817695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828-9"/>
          <p:cNvCxnSpPr/>
          <p:nvPr/>
        </p:nvCxnSpPr>
        <p:spPr>
          <a:xfrm>
            <a:off x="685629" y="2367972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829-10"/>
          <p:cNvCxnSpPr/>
          <p:nvPr/>
        </p:nvCxnSpPr>
        <p:spPr>
          <a:xfrm>
            <a:off x="685629" y="3064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829-11"/>
          <p:cNvCxnSpPr/>
          <p:nvPr/>
        </p:nvCxnSpPr>
        <p:spPr>
          <a:xfrm>
            <a:off x="685629" y="3761845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829-12"/>
          <p:cNvCxnSpPr/>
          <p:nvPr/>
        </p:nvCxnSpPr>
        <p:spPr>
          <a:xfrm>
            <a:off x="685629" y="4504610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829-13"/>
          <p:cNvCxnSpPr/>
          <p:nvPr/>
        </p:nvCxnSpPr>
        <p:spPr>
          <a:xfrm>
            <a:off x="685629" y="5247374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982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9827-4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研究局限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827-5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局限：这些结论适用于什么范围？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832-15"/>
          <p:cNvSpPr txBox="1"/>
          <p:nvPr/>
        </p:nvSpPr>
        <p:spPr>
          <a:xfrm>
            <a:off x="685629" y="1632498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29832-16"/>
          <p:cNvSpPr txBox="1"/>
          <p:nvPr/>
        </p:nvSpPr>
        <p:spPr>
          <a:xfrm>
            <a:off x="1466483" y="1622976"/>
            <a:ext cx="113210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场景范围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837-32"/>
          <p:cNvSpPr txBox="1"/>
          <p:nvPr/>
        </p:nvSpPr>
        <p:spPr>
          <a:xfrm>
            <a:off x="1466483" y="1905232"/>
            <a:ext cx="2285429" cy="3341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1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SCENARIO COVERAGE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832-17"/>
          <p:cNvSpPr txBox="1"/>
          <p:nvPr/>
        </p:nvSpPr>
        <p:spPr>
          <a:xfrm>
            <a:off x="3999500" y="1689634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说明研究场景与目标使用场景之间的差异。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832-18"/>
          <p:cNvSpPr txBox="1"/>
          <p:nvPr/>
        </p:nvSpPr>
        <p:spPr>
          <a:xfrm>
            <a:off x="685629" y="2496527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833-19"/>
          <p:cNvSpPr txBox="1"/>
          <p:nvPr/>
        </p:nvSpPr>
        <p:spPr>
          <a:xfrm>
            <a:off x="1466483" y="2487005"/>
            <a:ext cx="1755167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数据覆盖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837-33"/>
          <p:cNvSpPr txBox="1"/>
          <p:nvPr/>
        </p:nvSpPr>
        <p:spPr>
          <a:xfrm>
            <a:off x="1466483" y="2769261"/>
            <a:ext cx="3362437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OBSERVED DATA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833-20"/>
          <p:cNvSpPr txBox="1"/>
          <p:nvPr/>
        </p:nvSpPr>
        <p:spPr>
          <a:xfrm>
            <a:off x="3999500" y="2553663"/>
            <a:ext cx="81894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交代观测到什么，以及哪些信息不可见。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833-21"/>
          <p:cNvSpPr txBox="1"/>
          <p:nvPr/>
        </p:nvSpPr>
        <p:spPr>
          <a:xfrm>
            <a:off x="685629" y="3193464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833-22"/>
          <p:cNvSpPr txBox="1"/>
          <p:nvPr/>
        </p:nvSpPr>
        <p:spPr>
          <a:xfrm>
            <a:off x="1466483" y="3183941"/>
            <a:ext cx="85051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时间范围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838-34"/>
          <p:cNvSpPr txBox="1"/>
          <p:nvPr/>
        </p:nvSpPr>
        <p:spPr>
          <a:xfrm>
            <a:off x="1466483" y="3466198"/>
            <a:ext cx="3085138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 WINDOW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833-23"/>
          <p:cNvSpPr txBox="1"/>
          <p:nvPr/>
        </p:nvSpPr>
        <p:spPr>
          <a:xfrm>
            <a:off x="3999500" y="3250600"/>
            <a:ext cx="810660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说明数据时段和环境变化对结论的影响。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833-24"/>
          <p:cNvSpPr txBox="1"/>
          <p:nvPr/>
        </p:nvSpPr>
        <p:spPr>
          <a:xfrm>
            <a:off x="685629" y="3890401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9834-25"/>
          <p:cNvSpPr txBox="1"/>
          <p:nvPr/>
        </p:nvSpPr>
        <p:spPr>
          <a:xfrm>
            <a:off x="1466483" y="3903792"/>
            <a:ext cx="157423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定义与判定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91698029838-35"/>
          <p:cNvSpPr txBox="1"/>
          <p:nvPr/>
        </p:nvSpPr>
        <p:spPr>
          <a:xfrm>
            <a:off x="1466483" y="4186048"/>
            <a:ext cx="3362437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UNCERTAINTY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91698029831-14"/>
          <p:cNvSpPr txBox="1"/>
          <p:nvPr/>
        </p:nvSpPr>
        <p:spPr>
          <a:xfrm>
            <a:off x="3999500" y="3947536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说明判定条件、未判定对象及不完备性。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9834-26"/>
          <p:cNvSpPr txBox="1"/>
          <p:nvPr/>
        </p:nvSpPr>
        <p:spPr>
          <a:xfrm>
            <a:off x="685629" y="4633165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el-1791698029834-27"/>
          <p:cNvSpPr txBox="1"/>
          <p:nvPr/>
        </p:nvSpPr>
        <p:spPr>
          <a:xfrm>
            <a:off x="1466483" y="4646556"/>
            <a:ext cx="122937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推断范围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9838-36"/>
          <p:cNvSpPr txBox="1"/>
          <p:nvPr/>
        </p:nvSpPr>
        <p:spPr>
          <a:xfrm>
            <a:off x="1466483" y="4928812"/>
            <a:ext cx="3164366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INFERENCE BOUNDARY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9834-28"/>
          <p:cNvSpPr txBox="1"/>
          <p:nvPr/>
        </p:nvSpPr>
        <p:spPr>
          <a:xfrm>
            <a:off x="3999500" y="4690301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区分观察关联、因果证据与其他解释。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9835-29"/>
          <p:cNvSpPr txBox="1"/>
          <p:nvPr/>
        </p:nvSpPr>
        <p:spPr>
          <a:xfrm>
            <a:off x="685629" y="5375929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el-1791698029835-30"/>
          <p:cNvSpPr txBox="1"/>
          <p:nvPr/>
        </p:nvSpPr>
        <p:spPr>
          <a:xfrm>
            <a:off x="1466483" y="5366407"/>
            <a:ext cx="139330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样本规模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838-37"/>
          <p:cNvSpPr txBox="1"/>
          <p:nvPr/>
        </p:nvSpPr>
        <p:spPr>
          <a:xfrm>
            <a:off x="1466483" y="5648663"/>
            <a:ext cx="3045524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 SIZE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9835-31"/>
          <p:cNvSpPr txBox="1"/>
          <p:nvPr/>
        </p:nvSpPr>
        <p:spPr>
          <a:xfrm>
            <a:off x="3999500" y="5433065"/>
            <a:ext cx="81894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交代总体与各子分析样本，保留不确定性。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9169802982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9169802982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el-179169802982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94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949-10"/>
          <p:cNvCxnSpPr/>
          <p:nvPr/>
        </p:nvCxnSpPr>
        <p:spPr>
          <a:xfrm>
            <a:off x="685629" y="2385232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949-11"/>
          <p:cNvCxnSpPr/>
          <p:nvPr/>
        </p:nvCxnSpPr>
        <p:spPr>
          <a:xfrm>
            <a:off x="6313496" y="2385232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949-12"/>
          <p:cNvCxnSpPr/>
          <p:nvPr/>
        </p:nvCxnSpPr>
        <p:spPr>
          <a:xfrm>
            <a:off x="685629" y="3470810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950-13"/>
          <p:cNvCxnSpPr/>
          <p:nvPr/>
        </p:nvCxnSpPr>
        <p:spPr>
          <a:xfrm>
            <a:off x="6313496" y="3470810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947-7"/>
          <p:cNvCxnSpPr/>
          <p:nvPr/>
        </p:nvCxnSpPr>
        <p:spPr>
          <a:xfrm>
            <a:off x="699912" y="4565911"/>
            <a:ext cx="914" cy="487737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94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947-5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方法论借鉴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947-6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方法论借鉴：哪些做法可以迁移？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951-14"/>
          <p:cNvSpPr txBox="1"/>
          <p:nvPr/>
        </p:nvSpPr>
        <p:spPr>
          <a:xfrm>
            <a:off x="685629" y="2518548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954-18"/>
          <p:cNvSpPr txBox="1"/>
          <p:nvPr/>
        </p:nvSpPr>
        <p:spPr>
          <a:xfrm>
            <a:off x="1142714" y="2518548"/>
            <a:ext cx="49751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互补证据与对齐条件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954-19"/>
          <p:cNvSpPr txBox="1"/>
          <p:nvPr/>
        </p:nvSpPr>
        <p:spPr>
          <a:xfrm>
            <a:off x="1142714" y="2828033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明确不同证据各自提供什么，以及如何连接。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951-15"/>
          <p:cNvSpPr txBox="1"/>
          <p:nvPr/>
        </p:nvSpPr>
        <p:spPr>
          <a:xfrm>
            <a:off x="6313496" y="2518548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9954-20"/>
          <p:cNvSpPr txBox="1"/>
          <p:nvPr/>
        </p:nvSpPr>
        <p:spPr>
          <a:xfrm>
            <a:off x="6770582" y="2518548"/>
            <a:ext cx="485939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定义先于分析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954-21"/>
          <p:cNvSpPr txBox="1"/>
          <p:nvPr/>
        </p:nvSpPr>
        <p:spPr>
          <a:xfrm>
            <a:off x="6770582" y="2828033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先说明对象、指标和标签语义，再比较结果。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9951-16"/>
          <p:cNvSpPr txBox="1"/>
          <p:nvPr/>
        </p:nvSpPr>
        <p:spPr>
          <a:xfrm>
            <a:off x="685629" y="3604127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9955-22"/>
          <p:cNvSpPr txBox="1"/>
          <p:nvPr/>
        </p:nvSpPr>
        <p:spPr>
          <a:xfrm>
            <a:off x="1142714" y="3604127"/>
            <a:ext cx="503308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不确定性明确呈现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955-23"/>
          <p:cNvSpPr txBox="1"/>
          <p:nvPr/>
        </p:nvSpPr>
        <p:spPr>
          <a:xfrm>
            <a:off x="1142714" y="3913612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保留未知、缺失及保守判定，避免强行补齐。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951-17"/>
          <p:cNvSpPr txBox="1"/>
          <p:nvPr/>
        </p:nvSpPr>
        <p:spPr>
          <a:xfrm>
            <a:off x="6313496" y="3604127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955-24"/>
          <p:cNvSpPr txBox="1"/>
          <p:nvPr/>
        </p:nvSpPr>
        <p:spPr>
          <a:xfrm>
            <a:off x="6770582" y="3604127"/>
            <a:ext cx="485939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结论强度与验证范围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955-25"/>
          <p:cNvSpPr txBox="1"/>
          <p:nvPr/>
        </p:nvSpPr>
        <p:spPr>
          <a:xfrm>
            <a:off x="6770582" y="3913612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让每个结论对应证据，不扩大样本或推断。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946-4"/>
          <p:cNvSpPr txBox="1"/>
          <p:nvPr/>
        </p:nvSpPr>
        <p:spPr>
          <a:xfrm>
            <a:off x="885604" y="4680183"/>
            <a:ext cx="10928824" cy="259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个人归纳：填写与当前研究的联系及迁移条件，不直接照搬旧论文结果。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947-8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9947-9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el-179169802994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30027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30033-12"/>
          <p:cNvCxnSpPr/>
          <p:nvPr/>
        </p:nvCxnSpPr>
        <p:spPr>
          <a:xfrm>
            <a:off x="685629" y="2284500"/>
            <a:ext cx="10817695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30031-9"/>
          <p:cNvCxnSpPr/>
          <p:nvPr/>
        </p:nvCxnSpPr>
        <p:spPr>
          <a:xfrm>
            <a:off x="699912" y="4620220"/>
            <a:ext cx="914" cy="534159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30027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30030-5"/>
          <p:cNvSpPr txBox="1"/>
          <p:nvPr/>
        </p:nvSpPr>
        <p:spPr>
          <a:xfrm>
            <a:off x="685629" y="155600"/>
            <a:ext cx="1132906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TAKEAWAYS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30030-6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结语：研究问题与证据回答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30035-13"/>
          <p:cNvSpPr txBox="1"/>
          <p:nvPr/>
        </p:nvSpPr>
        <p:spPr>
          <a:xfrm>
            <a:off x="685629" y="2484475"/>
            <a:ext cx="3329108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回答一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30035-14"/>
          <p:cNvSpPr txBox="1"/>
          <p:nvPr/>
        </p:nvSpPr>
        <p:spPr>
          <a:xfrm>
            <a:off x="685629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填写研究问题一对应的已支持结论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30035-15"/>
          <p:cNvSpPr txBox="1"/>
          <p:nvPr/>
        </p:nvSpPr>
        <p:spPr>
          <a:xfrm>
            <a:off x="3451949" y="2484475"/>
            <a:ext cx="3441855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回答二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30035-16"/>
          <p:cNvSpPr txBox="1"/>
          <p:nvPr/>
        </p:nvSpPr>
        <p:spPr>
          <a:xfrm>
            <a:off x="3451949" y="2929063"/>
            <a:ext cx="2518733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填写研究问题二对应的已支持结论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30036-17"/>
          <p:cNvSpPr txBox="1"/>
          <p:nvPr/>
        </p:nvSpPr>
        <p:spPr>
          <a:xfrm>
            <a:off x="6218270" y="2484475"/>
            <a:ext cx="3329108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回答三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30037-18"/>
          <p:cNvSpPr txBox="1"/>
          <p:nvPr/>
        </p:nvSpPr>
        <p:spPr>
          <a:xfrm>
            <a:off x="6218270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填写研究问题三对应的已支持结论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30037-19"/>
          <p:cNvSpPr txBox="1"/>
          <p:nvPr/>
        </p:nvSpPr>
        <p:spPr>
          <a:xfrm>
            <a:off x="8984591" y="2484475"/>
            <a:ext cx="3204361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边界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30037-20"/>
          <p:cNvSpPr txBox="1"/>
          <p:nvPr/>
        </p:nvSpPr>
        <p:spPr>
          <a:xfrm>
            <a:off x="8984591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保留最关键的适用条件与不确定性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30031-7"/>
          <p:cNvSpPr txBox="1"/>
          <p:nvPr/>
        </p:nvSpPr>
        <p:spPr>
          <a:xfrm>
            <a:off x="685629" y="3652782"/>
            <a:ext cx="6363460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回到开场的问题，说明研究带来了什么认识。</a:t>
            </a: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/>
            </a:r>
            <a:endParaRPr sz="194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30031-8"/>
          <p:cNvSpPr txBox="1"/>
          <p:nvPr/>
        </p:nvSpPr>
        <p:spPr>
          <a:xfrm>
            <a:off x="685629" y="4036513"/>
            <a:ext cx="8286351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区分已支持发现、作者建议与后续工作。</a:t>
            </a:r>
            <a:endParaRPr sz="194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30030-4"/>
          <p:cNvSpPr txBox="1"/>
          <p:nvPr/>
        </p:nvSpPr>
        <p:spPr>
          <a:xfrm>
            <a:off x="885604" y="4620220"/>
            <a:ext cx="10617720" cy="534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9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填写简短方法论借鉴。谢谢大家，欢迎讨论。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30031-10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占位模板，无研究结果。新稿填写真实来源。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30031-11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30027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2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3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4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5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6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7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8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9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Slides>16</Slides>
  <Notes>16</Notes>
  <HiddenSlides>0</HiddenSlides>
</Properties>
</file>

<file path=docProps/core.xml><?xml version="1.0" encoding="utf-8"?>
<cp:coreProperties xmlns:cp="http://schemas.openxmlformats.org/package/2006/metadata/core-properties" xmlns:dc="http://purl.org/dc/elements/1.1/">
  <dc:title>Complete Research Presentation Template</dc:title>
  <dc:description>Public template with editable placeholders and generic notes.</dc:description>
</cp:coreProperties>
</file>